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FY2025 was our third consecutive year of margin expansion. Management stressed that growth came from price and mix rather than from volume discounting. Gross margin gains were led by running and by the direct channel. The finance team asked investors to treat the dividend increase as a signal of confidence in cash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category mix is stable by design. We do not want apparel to dilute the performance identity of the brand. Recovery products are the newest and fastest growing line, and they pull athletes into the brand between race seasons.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racer anchors everything else. Marketing leads with finish line results, which is also how the homepage is organised. Product teams use feedback from sponsored athletes to refine the next foam and plate generation.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Fit Lab gait scanning is live in 120 flagship and partner stores and has completed more than 900,000 scans. We view Fit Lab as a service moat rather than a product line. It keeps the shopper in a Vantage store, increases attachment of socks and insoles, and generates fit data we can use in design. We have no plans to turn it into made to order manufacturing.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Analysts asked whether we are late on personalization. Our view is that the value in performance footwear sits in fit and in proven geometry. Colorway choice is a marketing tool for the racer, and we will test it carefully before expanding it. We will revisit the question if customer demand for made to order fit data becomes clear.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Younger consumers are price aware, but we see them paying for products that visibly help them improve. We will not chase them with value ranges. Instead, we use campus programmes, ambassadors and Fit Lab to build a first purchase that holds up. Early data suggests Gen Z Fit Lab visitors convert at a rate similar to older cohorts.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plan to lift the direct share by a few points a year without damaging specialty retail relationships. Fit Lab sits in flagship and partner stores, so partners benefit from the service.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Guidance is deliberately conservative. Management would rather beat a modest plan than reset expectations. The board has endorsed the capital allocation framework shown on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Vantage Athletic Investor Day</a:t>
            </a:r>
          </a:p>
        </p:txBody>
      </p:sp>
      <p:sp>
        <p:nvSpPr>
          <p:cNvPr id="3" name="Subtitle 2"/>
          <p:cNvSpPr>
            <a:spLocks noGrp="1"/>
          </p:cNvSpPr>
          <p:nvPr>
            <p:ph type="subTitle" idx="1"/>
          </p:nvPr>
        </p:nvSpPr>
        <p:spPr/>
        <p:txBody>
          <a:bodyPr/>
          <a:lstStyle/>
          <a:p>
            <a:r>
              <a:t>Investor presentation - March 2026</a:t>
            </a:r>
          </a:p>
          <a:p>
            <a:r>
              <a:t>Fictional data created for the MarketSignal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rPr sz="1800"/>
              <a:t>FY2025 financial highlights</a:t>
            </a:r>
          </a:p>
          <a:p>
            <a:r>
              <a:rPr sz="1800"/>
              <a:t>Category mix and pricing power</a:t>
            </a:r>
          </a:p>
          <a:p>
            <a:r>
              <a:rPr sz="1800"/>
              <a:t>Fit Lab and the performance moat</a:t>
            </a:r>
          </a:p>
          <a:p>
            <a:r>
              <a:rPr sz="1800"/>
              <a:t>Gen Z strategy</a:t>
            </a:r>
          </a:p>
          <a:p>
            <a:r>
              <a:rPr sz="1800"/>
              <a:t>Channel balance: wholesale and direct to consumer</a:t>
            </a:r>
          </a:p>
          <a:p>
            <a:r>
              <a:rPr sz="1800"/>
              <a:t>Outlook and capital priorities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highlights</a:t>
            </a:r>
          </a:p>
        </p:txBody>
      </p:sp>
      <p:sp>
        <p:nvSpPr>
          <p:cNvPr id="3" name="Content Placeholder 2"/>
          <p:cNvSpPr>
            <a:spLocks noGrp="1"/>
          </p:cNvSpPr>
          <p:nvPr>
            <p:ph idx="1"/>
          </p:nvPr>
        </p:nvSpPr>
        <p:spPr/>
        <p:txBody>
          <a:bodyPr/>
          <a:lstStyle/>
          <a:p>
            <a:r>
              <a:rPr sz="1800"/>
              <a:t>Net revenue of $4.2 billion in FY2025, with footwear at 63% of sales.</a:t>
            </a:r>
          </a:p>
          <a:p>
            <a:r>
              <a:rPr sz="1800"/>
              <a:t>Gross margin expanded as full price sell through improved and promotional depth fell</a:t>
            </a:r>
          </a:p>
          <a:p>
            <a:r>
              <a:rPr sz="1800"/>
              <a:t>Operating margin rose 120 basis points on mix and supply chain savings</a:t>
            </a:r>
          </a:p>
          <a:p>
            <a:r>
              <a:rPr sz="1800"/>
              <a:t>Free cash flow funded the Fit Lab rollout and a higher dividend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Category mix</a:t>
            </a:r>
          </a:p>
        </p:txBody>
      </p:sp>
      <p:sp>
        <p:nvSpPr>
          <p:cNvPr id="3" name="TextBox 2"/>
          <p:cNvSpPr txBox="1"/>
          <p:nvPr/>
        </p:nvSpPr>
        <p:spPr>
          <a:xfrm>
            <a:off x="548640" y="1371600"/>
            <a:ext cx="11064240" cy="1508760"/>
          </a:xfrm>
          <a:prstGeom prst="rect">
            <a:avLst/>
          </a:prstGeom>
          <a:noFill/>
        </p:spPr>
        <p:txBody>
          <a:bodyPr wrap="square">
            <a:spAutoFit/>
          </a:bodyPr>
          <a:lstStyle/>
          <a:p>
            <a:r>
              <a:rPr sz="1600"/>
              <a:t>Footwear remains the engine, led by running</a:t>
            </a:r>
          </a:p>
          <a:p>
            <a:r>
              <a:rPr sz="1600"/>
              <a:t>Apparel is growing faster than footwear off a smaller base</a:t>
            </a:r>
          </a:p>
          <a:p>
            <a:r>
              <a:rPr sz="1600"/>
              <a:t>Accessories and recovery tools are a small but high margin category</a:t>
            </a:r>
          </a:p>
        </p:txBody>
      </p:sp>
      <p:graphicFrame>
        <p:nvGraphicFramePr>
          <p:cNvPr id="4" name="Table 3"/>
          <p:cNvGraphicFramePr>
            <a:graphicFrameLocks noGrp="1"/>
          </p:cNvGraphicFramePr>
          <p:nvPr/>
        </p:nvGraphicFramePr>
        <p:xfrm>
          <a:off x="548640" y="297180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a:t>Category</a:t>
                      </a:r>
                    </a:p>
                  </a:txBody>
                  <a:tcPr/>
                </a:tc>
                <a:tc>
                  <a:txBody>
                    <a:bodyPr/>
                    <a:lstStyle/>
                    <a:p>
                      <a:r>
                        <a:rPr sz="1200"/>
                        <a:t>Share of sales</a:t>
                      </a:r>
                    </a:p>
                  </a:txBody>
                  <a:tcPr/>
                </a:tc>
                <a:tc>
                  <a:txBody>
                    <a:bodyPr/>
                    <a:lstStyle/>
                    <a:p>
                      <a:r>
                        <a:rPr sz="1200"/>
                        <a:t>Trend</a:t>
                      </a:r>
                    </a:p>
                  </a:txBody>
                  <a:tcPr/>
                </a:tc>
              </a:tr>
              <a:tr h="365760">
                <a:tc>
                  <a:txBody>
                    <a:bodyPr/>
                    <a:lstStyle/>
                    <a:p>
                      <a:r>
                        <a:rPr sz="1200"/>
                        <a:t>Footwear</a:t>
                      </a:r>
                    </a:p>
                  </a:txBody>
                  <a:tcPr/>
                </a:tc>
                <a:tc>
                  <a:txBody>
                    <a:bodyPr/>
                    <a:lstStyle/>
                    <a:p>
                      <a:r>
                        <a:rPr sz="1200"/>
                        <a:t>63%</a:t>
                      </a:r>
                    </a:p>
                  </a:txBody>
                  <a:tcPr/>
                </a:tc>
                <a:tc>
                  <a:txBody>
                    <a:bodyPr/>
                    <a:lstStyle/>
                    <a:p>
                      <a:r>
                        <a:rPr sz="1200"/>
                        <a:t>Steady</a:t>
                      </a:r>
                    </a:p>
                  </a:txBody>
                  <a:tcPr/>
                </a:tc>
              </a:tr>
              <a:tr h="365760">
                <a:tc>
                  <a:txBody>
                    <a:bodyPr/>
                    <a:lstStyle/>
                    <a:p>
                      <a:r>
                        <a:rPr sz="1200"/>
                        <a:t>Apparel</a:t>
                      </a:r>
                    </a:p>
                  </a:txBody>
                  <a:tcPr/>
                </a:tc>
                <a:tc>
                  <a:txBody>
                    <a:bodyPr/>
                    <a:lstStyle/>
                    <a:p>
                      <a:r>
                        <a:rPr sz="1200"/>
                        <a:t>30%</a:t>
                      </a:r>
                    </a:p>
                  </a:txBody>
                  <a:tcPr/>
                </a:tc>
                <a:tc>
                  <a:txBody>
                    <a:bodyPr/>
                    <a:lstStyle/>
                    <a:p>
                      <a:r>
                        <a:rPr sz="1200"/>
                        <a:t>Rising</a:t>
                      </a:r>
                    </a:p>
                  </a:txBody>
                  <a:tcPr/>
                </a:tc>
              </a:tr>
              <a:tr h="365760">
                <a:tc>
                  <a:txBody>
                    <a:bodyPr/>
                    <a:lstStyle/>
                    <a:p>
                      <a:r>
                        <a:rPr sz="1200"/>
                        <a:t>Accessories and recovery</a:t>
                      </a:r>
                    </a:p>
                  </a:txBody>
                  <a:tcPr/>
                </a:tc>
                <a:tc>
                  <a:txBody>
                    <a:bodyPr/>
                    <a:lstStyle/>
                    <a:p>
                      <a:r>
                        <a:rPr sz="1200"/>
                        <a:t>7%</a:t>
                      </a:r>
                    </a:p>
                  </a:txBody>
                  <a:tcPr/>
                </a:tc>
                <a:tc>
                  <a:txBody>
                    <a:bodyPr/>
                    <a:lstStyle/>
                    <a:p>
                      <a:r>
                        <a:rPr sz="1200"/>
                        <a:t>Rising</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power</a:t>
            </a:r>
          </a:p>
        </p:txBody>
      </p:sp>
      <p:sp>
        <p:nvSpPr>
          <p:cNvPr id="3" name="TextBox 2"/>
          <p:cNvSpPr txBox="1"/>
          <p:nvPr/>
        </p:nvSpPr>
        <p:spPr>
          <a:xfrm>
            <a:off x="548640" y="1371600"/>
            <a:ext cx="11064240" cy="1508760"/>
          </a:xfrm>
          <a:prstGeom prst="rect">
            <a:avLst/>
          </a:prstGeom>
          <a:noFill/>
        </p:spPr>
        <p:txBody>
          <a:bodyPr wrap="square">
            <a:spAutoFit/>
          </a:bodyPr>
          <a:lstStyle/>
          <a:p>
            <a:r>
              <a:rPr sz="1600"/>
              <a:t>Premium pricing is supported by race results, not by promotion</a:t>
            </a:r>
          </a:p>
          <a:p>
            <a:r>
              <a:rPr sz="1600"/>
              <a:t>Higher prices held with no measurable loss in unit demand in running</a:t>
            </a:r>
          </a:p>
          <a:p>
            <a:r>
              <a:rPr sz="1600"/>
              <a:t>Fewer discount events and tighter inventory kept full price sell through high</a:t>
            </a:r>
          </a:p>
        </p:txBody>
      </p:sp>
      <p:graphicFrame>
        <p:nvGraphicFramePr>
          <p:cNvPr id="4" name="Table 3"/>
          <p:cNvGraphicFramePr>
            <a:graphicFrameLocks noGrp="1"/>
          </p:cNvGraphicFramePr>
          <p:nvPr/>
        </p:nvGraphicFramePr>
        <p:xfrm>
          <a:off x="548640" y="2971800"/>
          <a:ext cx="11064240" cy="14630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a:t>Metric</a:t>
                      </a:r>
                    </a:p>
                  </a:txBody>
                  <a:tcPr/>
                </a:tc>
                <a:tc>
                  <a:txBody>
                    <a:bodyPr/>
                    <a:lstStyle/>
                    <a:p>
                      <a:r>
                        <a:rPr sz="1200"/>
                        <a:t>FY2025 result</a:t>
                      </a:r>
                    </a:p>
                  </a:txBody>
                  <a:tcPr/>
                </a:tc>
              </a:tr>
              <a:tr h="365760">
                <a:tc>
                  <a:txBody>
                    <a:bodyPr/>
                    <a:lstStyle/>
                    <a:p>
                      <a:r>
                        <a:rPr sz="1200"/>
                        <a:t>Performance running ASP</a:t>
                      </a:r>
                    </a:p>
                  </a:txBody>
                  <a:tcPr/>
                </a:tc>
                <a:tc>
                  <a:txBody>
                    <a:bodyPr/>
                    <a:lstStyle/>
                    <a:p>
                      <a:r>
                        <a:rPr sz="1200"/>
                        <a:t>Performance running average selling price rose 7% to $165.</a:t>
                      </a:r>
                    </a:p>
                  </a:txBody>
                  <a:tcPr/>
                </a:tc>
              </a:tr>
              <a:tr h="365760">
                <a:tc>
                  <a:txBody>
                    <a:bodyPr/>
                    <a:lstStyle/>
                    <a:p>
                      <a:r>
                        <a:rPr sz="1200"/>
                        <a:t>Prior year running ASP</a:t>
                      </a:r>
                    </a:p>
                  </a:txBody>
                  <a:tcPr/>
                </a:tc>
                <a:tc>
                  <a:txBody>
                    <a:bodyPr/>
                    <a:lstStyle/>
                    <a:p>
                      <a:r>
                        <a:rPr sz="1200"/>
                        <a:t>About $154</a:t>
                      </a:r>
                    </a:p>
                  </a:txBody>
                  <a:tcPr/>
                </a:tc>
              </a:tr>
              <a:tr h="365760">
                <a:tc>
                  <a:txBody>
                    <a:bodyPr/>
                    <a:lstStyle/>
                    <a:p>
                      <a:r>
                        <a:rPr sz="1200"/>
                        <a:t>Full price sell through</a:t>
                      </a:r>
                    </a:p>
                  </a:txBody>
                  <a:tcPr/>
                </a:tc>
                <a:tc>
                  <a:txBody>
                    <a:bodyPr/>
                    <a:lstStyle/>
                    <a:p>
                      <a:r>
                        <a:rPr sz="1200"/>
                        <a:t>Up 3 points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Racing franchise</a:t>
            </a:r>
          </a:p>
        </p:txBody>
      </p:sp>
      <p:sp>
        <p:nvSpPr>
          <p:cNvPr id="3" name="Content Placeholder 2"/>
          <p:cNvSpPr>
            <a:spLocks noGrp="1"/>
          </p:cNvSpPr>
          <p:nvPr>
            <p:ph idx="1"/>
          </p:nvPr>
        </p:nvSpPr>
        <p:spPr/>
        <p:txBody>
          <a:bodyPr/>
          <a:lstStyle/>
          <a:p>
            <a:r>
              <a:rPr sz="1800"/>
              <a:t>Flagship racer remains the halo product for the entire footwear range</a:t>
            </a:r>
          </a:p>
          <a:p>
            <a:r>
              <a:rPr sz="1800"/>
              <a:t>Athletes sponsored across road, track and trail events</a:t>
            </a:r>
          </a:p>
          <a:p>
            <a:r>
              <a:rPr sz="1800"/>
              <a:t>Race results feed marketing and product development on a single cycle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Training and recovery</a:t>
            </a:r>
          </a:p>
        </p:txBody>
      </p:sp>
      <p:sp>
        <p:nvSpPr>
          <p:cNvPr id="3" name="Content Placeholder 2"/>
          <p:cNvSpPr>
            <a:spLocks noGrp="1"/>
          </p:cNvSpPr>
          <p:nvPr>
            <p:ph idx="1"/>
          </p:nvPr>
        </p:nvSpPr>
        <p:spPr/>
        <p:txBody>
          <a:bodyPr/>
          <a:lstStyle/>
          <a:p>
            <a:r>
              <a:rPr sz="1800"/>
              <a:t>Daily trainers deliver volume and repeat purchase</a:t>
            </a:r>
          </a:p>
          <a:p>
            <a:r>
              <a:rPr sz="1800"/>
              <a:t>Recovery tools extend the relationship beyond race season</a:t>
            </a:r>
          </a:p>
          <a:p>
            <a:r>
              <a:rPr sz="1800"/>
              <a:t>Wear windows published for every trainer to build trust in durability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Fit Lab</a:t>
            </a:r>
          </a:p>
        </p:txBody>
      </p:sp>
      <p:sp>
        <p:nvSpPr>
          <p:cNvPr id="3" name="Content Placeholder 2"/>
          <p:cNvSpPr>
            <a:spLocks noGrp="1"/>
          </p:cNvSpPr>
          <p:nvPr>
            <p:ph idx="1"/>
          </p:nvPr>
        </p:nvSpPr>
        <p:spPr/>
        <p:txBody>
          <a:bodyPr/>
          <a:lstStyle/>
          <a:p>
            <a:r>
              <a:rPr sz="1800"/>
              <a:t>Free in store gait and fit sessions of about ten minutes</a:t>
            </a:r>
          </a:p>
          <a:p>
            <a:r>
              <a:rPr sz="1800"/>
              <a:t>Recommendations drawn from the existing range, not bespoke builds</a:t>
            </a:r>
          </a:p>
          <a:p>
            <a:r>
              <a:rPr sz="1800"/>
              <a:t>Fit Lab shoppers show higher basket value and lower return rates</a:t>
            </a:r>
          </a:p>
          <a:p>
            <a:r>
              <a:rPr sz="1800"/>
              <a:t>Profile data feeds the next season's size curve and last shape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Personalization: a measured view</a:t>
            </a:r>
          </a:p>
        </p:txBody>
      </p:sp>
      <p:sp>
        <p:nvSpPr>
          <p:cNvPr id="3" name="Content Placeholder 2"/>
          <p:cNvSpPr>
            <a:spLocks noGrp="1"/>
          </p:cNvSpPr>
          <p:nvPr>
            <p:ph idx="1"/>
          </p:nvPr>
        </p:nvSpPr>
        <p:spPr/>
        <p:txBody>
          <a:bodyPr/>
          <a:lstStyle/>
          <a:p>
            <a:r>
              <a:rPr sz="1800"/>
              <a:t>Personalization is limited to a choice of preset colorways on the flagship racer</a:t>
            </a:r>
          </a:p>
          <a:p>
            <a:r>
              <a:rPr sz="1800"/>
              <a:t>Fit is addressed through measurement and range, not custom manufacturing</a:t>
            </a:r>
          </a:p>
          <a:p>
            <a:r>
              <a:rPr sz="1800"/>
              <a:t>Made to order adds lead time and complexity that conflict with race calendars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 Z strategy</a:t>
            </a:r>
          </a:p>
        </p:txBody>
      </p:sp>
      <p:sp>
        <p:nvSpPr>
          <p:cNvPr id="3" name="Content Placeholder 2"/>
          <p:cNvSpPr>
            <a:spLocks noGrp="1"/>
          </p:cNvSpPr>
          <p:nvPr>
            <p:ph idx="1"/>
          </p:nvPr>
        </p:nvSpPr>
        <p:spPr/>
        <p:txBody>
          <a:bodyPr/>
          <a:lstStyle/>
          <a:p>
            <a:r>
              <a:rPr sz="1800"/>
              <a:t>Premium and athlete led: win Gen Z through credibility, not discounting</a:t>
            </a:r>
          </a:p>
          <a:p>
            <a:r>
              <a:rPr sz="1800"/>
              <a:t>Aided awareness among Gen Z stands at 71%</a:t>
            </a:r>
          </a:p>
          <a:p>
            <a:r>
              <a:rPr sz="1800"/>
              <a:t>Campus and club programmes introduce the brand at the start of a running habit</a:t>
            </a:r>
          </a:p>
          <a:p>
            <a:r>
              <a:rPr sz="1800"/>
              <a:t>Creator content focuses on training logs and race prep rather than lifestyle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Wholesale versus direct to consumer</a:t>
            </a:r>
          </a:p>
        </p:txBody>
      </p:sp>
      <p:sp>
        <p:nvSpPr>
          <p:cNvPr id="3" name="TextBox 2"/>
          <p:cNvSpPr txBox="1"/>
          <p:nvPr/>
        </p:nvSpPr>
        <p:spPr>
          <a:xfrm>
            <a:off x="548640" y="1371600"/>
            <a:ext cx="11064240" cy="1508760"/>
          </a:xfrm>
          <a:prstGeom prst="rect">
            <a:avLst/>
          </a:prstGeom>
          <a:noFill/>
        </p:spPr>
        <p:txBody>
          <a:bodyPr wrap="square">
            <a:spAutoFit/>
          </a:bodyPr>
          <a:lstStyle/>
          <a:p>
            <a:r>
              <a:rPr sz="1600"/>
              <a:t>Wholesale partners provide reach and specialty credibility</a:t>
            </a:r>
          </a:p>
          <a:p>
            <a:r>
              <a:rPr sz="1600"/>
              <a:t>Direct to consumer grows faster and carries a higher gross margin</a:t>
            </a:r>
          </a:p>
          <a:p>
            <a:r>
              <a:rPr sz="1600"/>
              <a:t>Stores with Fit Lab are the bridge between the two models</a:t>
            </a:r>
          </a:p>
        </p:txBody>
      </p:sp>
      <p:graphicFrame>
        <p:nvGraphicFramePr>
          <p:cNvPr id="4" name="Table 3"/>
          <p:cNvGraphicFramePr>
            <a:graphicFrameLocks noGrp="1"/>
          </p:cNvGraphicFramePr>
          <p:nvPr/>
        </p:nvGraphicFramePr>
        <p:xfrm>
          <a:off x="548640" y="2971800"/>
          <a:ext cx="11064240" cy="10972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a:t>Channel</a:t>
                      </a:r>
                    </a:p>
                  </a:txBody>
                  <a:tcPr/>
                </a:tc>
                <a:tc>
                  <a:txBody>
                    <a:bodyPr/>
                    <a:lstStyle/>
                    <a:p>
                      <a:r>
                        <a:rPr sz="1200"/>
                        <a:t>Share of sales</a:t>
                      </a:r>
                    </a:p>
                  </a:txBody>
                  <a:tcPr/>
                </a:tc>
                <a:tc>
                  <a:txBody>
                    <a:bodyPr/>
                    <a:lstStyle/>
                    <a:p>
                      <a:r>
                        <a:rPr sz="1200"/>
                        <a:t>Margin profile</a:t>
                      </a:r>
                    </a:p>
                  </a:txBody>
                  <a:tcPr/>
                </a:tc>
              </a:tr>
              <a:tr h="365760">
                <a:tc>
                  <a:txBody>
                    <a:bodyPr/>
                    <a:lstStyle/>
                    <a:p>
                      <a:r>
                        <a:rPr sz="1200"/>
                        <a:t>Wholesale</a:t>
                      </a:r>
                    </a:p>
                  </a:txBody>
                  <a:tcPr/>
                </a:tc>
                <a:tc>
                  <a:txBody>
                    <a:bodyPr/>
                    <a:lstStyle/>
                    <a:p>
                      <a:r>
                        <a:rPr sz="1200"/>
                        <a:t>66%</a:t>
                      </a:r>
                    </a:p>
                  </a:txBody>
                  <a:tcPr/>
                </a:tc>
                <a:tc>
                  <a:txBody>
                    <a:bodyPr/>
                    <a:lstStyle/>
                    <a:p>
                      <a:r>
                        <a:rPr sz="1200"/>
                        <a:t>Lower</a:t>
                      </a:r>
                    </a:p>
                  </a:txBody>
                  <a:tcPr/>
                </a:tc>
              </a:tr>
              <a:tr h="365760">
                <a:tc>
                  <a:txBody>
                    <a:bodyPr/>
                    <a:lstStyle/>
                    <a:p>
                      <a:r>
                        <a:rPr sz="1200"/>
                        <a:t>Direct to consumer</a:t>
                      </a:r>
                    </a:p>
                  </a:txBody>
                  <a:tcPr/>
                </a:tc>
                <a:tc>
                  <a:txBody>
                    <a:bodyPr/>
                    <a:lstStyle/>
                    <a:p>
                      <a:r>
                        <a:rPr sz="1200"/>
                        <a:t>34%</a:t>
                      </a:r>
                    </a:p>
                  </a:txBody>
                  <a:tcPr/>
                </a:tc>
                <a:tc>
                  <a:txBody>
                    <a:bodyPr/>
                    <a:lstStyle/>
                    <a:p>
                      <a:r>
                        <a:rPr sz="1200"/>
                        <a:t>Higher</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Outlook</a:t>
            </a:r>
          </a:p>
        </p:txBody>
      </p:sp>
      <p:sp>
        <p:nvSpPr>
          <p:cNvPr id="3" name="Content Placeholder 2"/>
          <p:cNvSpPr>
            <a:spLocks noGrp="1"/>
          </p:cNvSpPr>
          <p:nvPr>
            <p:ph idx="1"/>
          </p:nvPr>
        </p:nvSpPr>
        <p:spPr/>
        <p:txBody>
          <a:bodyPr/>
          <a:lstStyle/>
          <a:p>
            <a:r>
              <a:rPr sz="1800"/>
              <a:t>Mid single digit revenue growth with continued gross margin expansion</a:t>
            </a:r>
          </a:p>
          <a:p>
            <a:r>
              <a:rPr sz="1800"/>
              <a:t>Capital priorities: Fit Lab expansion, recovery products and supply chain resilience</a:t>
            </a:r>
          </a:p>
          <a:p>
            <a:r>
              <a:rPr sz="1800"/>
              <a:t>No planned move into made to order manufacturing or value segments</a:t>
            </a:r>
          </a:p>
          <a:p>
            <a:r>
              <a:rPr sz="1800"/>
              <a:t>Disciplined inventory and premium pricing remain the foundation of the plan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Vantage Athletic Investor Day</dc:title>
  <dc:subject>Fictional data created for the MarketSignal demo.</dc:subject>
  <dc:creator>MarketSignal seed generator</dc:creator>
  <cp:keywords/>
  <dc:description>generated using python-pptx</dc:description>
  <cp:lastModifiedBy>MarketSignal seed generator</cp:lastModifiedBy>
  <cp:revision>1</cp:revision>
  <dcterms:created xsi:type="dcterms:W3CDTF">2026-01-01T00:00:00Z</dcterms:created>
  <dcterms:modified xsi:type="dcterms:W3CDTF">2026-01-01T00:00:00Z</dcterms:modified>
  <cp:category/>
  <cp:lastPrinted>2026-01-01T00:00:00Z</cp:lastPrinted>
</cp:coreProperties>
</file>