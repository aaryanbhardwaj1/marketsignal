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was a year of disciplined growth. We added doors faster than planned, which temporarily raised inventory in the second half. The team rebalanced orders in the fourth quarter and exited the year with a clean stock position. Management reiterated that growth is paced to protect margin.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Younger customers are our fastest growing group, and they respond to drops and creator content more than to traditional promotions. They also have the highest app engagement. We see this cohort as the base for our next three years of growth.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drop calendar is the operating system of the company. It dictates design lead times, factory booking and marketing beats. Because styles are replaced instead of restocked, we avoid carrying slow stock into the next season.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expansion was achieved by adding doors with existing partners and signing three new chains. A standard fixture allows installation in a single night. We expect door additions to slow in 2026 as we focus on productivity per door.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is a promise to the customer, so we avoid price moves. Instead we manage margin through purchasing and design simplicity. The free return policy is a cost we accept because it lifts conversion and trust.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deliberately avoid customization because it breaks our two week drop calendar and our $38 average price point. Investors asked about competitors who offer made to order products. Management responded that those propositions suit a different customer who is willing to pay more and wait longer. We will watch the segment but see no reason to change our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Creator content works because customers trust peers more than ads. We invest in a broad base of micro creators rather than a few celebrity partnerships. Commission structures align creator income with sales.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outlook assumes stable fabric costs and steady consumer demand for value. The company will update investors at the half year.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Pace &amp; Co. Investor Update</a:t>
            </a:r>
          </a:p>
        </p:txBody>
      </p:sp>
      <p:sp>
        <p:nvSpPr>
          <p:cNvPr id="3" name="Subtitle 2"/>
          <p:cNvSpPr>
            <a:spLocks noGrp="1"/>
          </p:cNvSpPr>
          <p:nvPr>
            <p:ph type="subTitle" idx="1"/>
          </p:nvPr>
        </p:nvSpPr>
        <p:spPr/>
        <p:txBody>
          <a:bodyPr/>
          <a:lstStyle/>
          <a:p>
            <a:r>
              <a:t>Investor update - February 2026</a:t>
            </a:r>
          </a:p>
          <a:p>
            <a:r>
              <a:t>Fictional data created for the MarketSignal demo.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rPr sz="1800"/>
              <a:t>Year in review</a:t>
            </a:r>
          </a:p>
          <a:p>
            <a:r>
              <a:rPr sz="1800"/>
              <a:t>Customer growth</a:t>
            </a:r>
          </a:p>
          <a:p>
            <a:r>
              <a:rPr sz="1800"/>
              <a:t>The drop model</a:t>
            </a:r>
          </a:p>
          <a:p>
            <a:r>
              <a:rPr sz="1800"/>
              <a:t>Store in store expansion</a:t>
            </a:r>
          </a:p>
          <a:p>
            <a:r>
              <a:rPr sz="1800"/>
              <a:t>Pricing, margin and marketing</a:t>
            </a:r>
          </a:p>
          <a:p>
            <a:r>
              <a:rPr sz="1800"/>
              <a:t>Outlook for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Year in review</a:t>
            </a:r>
          </a:p>
        </p:txBody>
      </p:sp>
      <p:sp>
        <p:nvSpPr>
          <p:cNvPr id="3" name="Content Placeholder 2"/>
          <p:cNvSpPr>
            <a:spLocks noGrp="1"/>
          </p:cNvSpPr>
          <p:nvPr>
            <p:ph idx="1"/>
          </p:nvPr>
        </p:nvSpPr>
        <p:spPr/>
        <p:txBody>
          <a:bodyPr/>
          <a:lstStyle/>
          <a:p>
            <a:r>
              <a:rPr sz="1800"/>
              <a:t>Net sales grew 27% as new drops and new doors both contributed</a:t>
            </a:r>
          </a:p>
          <a:p>
            <a:r>
              <a:rPr sz="1800"/>
              <a:t>Active customers increased across every region</a:t>
            </a:r>
          </a:p>
          <a:p>
            <a:r>
              <a:rPr sz="1800"/>
              <a:t>Gross margin held steady despite a heavy investment in fixtures</a:t>
            </a:r>
          </a:p>
          <a:p>
            <a:r>
              <a:rPr sz="1800"/>
              <a:t>Returns were a manageable share of sales under our free return policy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growth</a:t>
            </a:r>
          </a:p>
        </p:txBody>
      </p:sp>
      <p:sp>
        <p:nvSpPr>
          <p:cNvPr id="3" name="Content Placeholder 2"/>
          <p:cNvSpPr>
            <a:spLocks noGrp="1"/>
          </p:cNvSpPr>
          <p:nvPr>
            <p:ph idx="1"/>
          </p:nvPr>
        </p:nvSpPr>
        <p:spPr/>
        <p:txBody>
          <a:bodyPr/>
          <a:lstStyle/>
          <a:p>
            <a:r>
              <a:rPr sz="1800"/>
              <a:t>Gen Z customers now make up 44% of our active customer file.</a:t>
            </a:r>
          </a:p>
          <a:p>
            <a:r>
              <a:rPr sz="1800"/>
              <a:t>Active customer file grew by more than a quarter during the year</a:t>
            </a:r>
          </a:p>
          <a:p>
            <a:r>
              <a:rPr sz="1800"/>
              <a:t>New customers acquired mainly through creator referrals and store in store discovery</a:t>
            </a:r>
          </a:p>
          <a:p>
            <a:r>
              <a:rPr sz="1800"/>
              <a:t>Repeat rates highest among customers who join through the 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drop model</a:t>
            </a:r>
          </a:p>
        </p:txBody>
      </p:sp>
      <p:sp>
        <p:nvSpPr>
          <p:cNvPr id="3" name="Content Placeholder 2"/>
          <p:cNvSpPr>
            <a:spLocks noGrp="1"/>
          </p:cNvSpPr>
          <p:nvPr>
            <p:ph idx="1"/>
          </p:nvPr>
        </p:nvSpPr>
        <p:spPr/>
        <p:txBody>
          <a:bodyPr/>
          <a:lstStyle/>
          <a:p>
            <a:r>
              <a:rPr sz="1800"/>
              <a:t>A focused edit of about twenty styles arrives every two weeks</a:t>
            </a:r>
          </a:p>
          <a:p>
            <a:r>
              <a:rPr sz="1800"/>
              <a:t>Short runs create urgency and keep markdowns low</a:t>
            </a:r>
          </a:p>
          <a:p>
            <a:r>
              <a:rPr sz="1800"/>
              <a:t>Simple designs and shared fabrics let us repeat the cycle at scale</a:t>
            </a:r>
          </a:p>
          <a:p>
            <a:r>
              <a:rPr sz="1800"/>
              <a:t>Sold out styles are replaced rather than restocked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Drop calendar economics</a:t>
            </a:r>
          </a:p>
        </p:txBody>
      </p:sp>
      <p:sp>
        <p:nvSpPr>
          <p:cNvPr id="3" name="TextBox 2"/>
          <p:cNvSpPr txBox="1"/>
          <p:nvPr/>
        </p:nvSpPr>
        <p:spPr>
          <a:xfrm>
            <a:off x="548640" y="1371600"/>
            <a:ext cx="11064240" cy="1508760"/>
          </a:xfrm>
          <a:prstGeom prst="rect">
            <a:avLst/>
          </a:prstGeom>
          <a:noFill/>
        </p:spPr>
        <p:txBody>
          <a:bodyPr wrap="square">
            <a:spAutoFit/>
          </a:bodyPr>
          <a:lstStyle/>
          <a:p>
            <a:r>
              <a:rPr sz="1600"/>
              <a:t>Production is booked in rolling windows with a small group of partner factories</a:t>
            </a:r>
          </a:p>
          <a:p>
            <a:r>
              <a:rPr sz="1600"/>
              <a:t>Average sell through within the first four weeks remains strong</a:t>
            </a:r>
          </a:p>
          <a:p>
            <a:r>
              <a:rPr sz="1600"/>
              <a:t>Markdown depth stays shallow because supply is limited</a:t>
            </a:r>
          </a:p>
        </p:txBody>
      </p:sp>
      <p:graphicFrame>
        <p:nvGraphicFramePr>
          <p:cNvPr id="4" name="Table 3"/>
          <p:cNvGraphicFramePr>
            <a:graphicFrameLocks noGrp="1"/>
          </p:cNvGraphicFramePr>
          <p:nvPr/>
        </p:nvGraphicFramePr>
        <p:xfrm>
          <a:off x="548640" y="2971800"/>
          <a:ext cx="11064240" cy="182880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a:t>Measure</a:t>
                      </a:r>
                    </a:p>
                  </a:txBody>
                  <a:tcPr/>
                </a:tc>
                <a:tc>
                  <a:txBody>
                    <a:bodyPr/>
                    <a:lstStyle/>
                    <a:p>
                      <a:r>
                        <a:rPr sz="1200"/>
                        <a:t>Result</a:t>
                      </a:r>
                    </a:p>
                  </a:txBody>
                  <a:tcPr/>
                </a:tc>
              </a:tr>
              <a:tr h="365760">
                <a:tc>
                  <a:txBody>
                    <a:bodyPr/>
                    <a:lstStyle/>
                    <a:p>
                      <a:r>
                        <a:rPr sz="1200"/>
                        <a:t>Drops per year</a:t>
                      </a:r>
                    </a:p>
                  </a:txBody>
                  <a:tcPr/>
                </a:tc>
                <a:tc>
                  <a:txBody>
                    <a:bodyPr/>
                    <a:lstStyle/>
                    <a:p>
                      <a:r>
                        <a:rPr sz="1200"/>
                        <a:t>26</a:t>
                      </a:r>
                    </a:p>
                  </a:txBody>
                  <a:tcPr/>
                </a:tc>
              </a:tr>
              <a:tr h="365760">
                <a:tc>
                  <a:txBody>
                    <a:bodyPr/>
                    <a:lstStyle/>
                    <a:p>
                      <a:r>
                        <a:rPr sz="1200"/>
                        <a:t>Styles per drop</a:t>
                      </a:r>
                    </a:p>
                  </a:txBody>
                  <a:tcPr/>
                </a:tc>
                <a:tc>
                  <a:txBody>
                    <a:bodyPr/>
                    <a:lstStyle/>
                    <a:p>
                      <a:r>
                        <a:rPr sz="1200"/>
                        <a:t>About 20</a:t>
                      </a:r>
                    </a:p>
                  </a:txBody>
                  <a:tcPr/>
                </a:tc>
              </a:tr>
              <a:tr h="365760">
                <a:tc>
                  <a:txBody>
                    <a:bodyPr/>
                    <a:lstStyle/>
                    <a:p>
                      <a:r>
                        <a:rPr sz="1200"/>
                        <a:t>Sell through at four weeks</a:t>
                      </a:r>
                    </a:p>
                  </a:txBody>
                  <a:tcPr/>
                </a:tc>
                <a:tc>
                  <a:txBody>
                    <a:bodyPr/>
                    <a:lstStyle/>
                    <a:p>
                      <a:r>
                        <a:rPr sz="1200"/>
                        <a:t>Above 80%</a:t>
                      </a:r>
                    </a:p>
                  </a:txBody>
                  <a:tcPr/>
                </a:tc>
              </a:tr>
              <a:tr h="365760">
                <a:tc>
                  <a:txBody>
                    <a:bodyPr/>
                    <a:lstStyle/>
                    <a:p>
                      <a:r>
                        <a:rPr sz="1200"/>
                        <a:t>Markdown share of sales</a:t>
                      </a:r>
                    </a:p>
                  </a:txBody>
                  <a:tcPr/>
                </a:tc>
                <a:tc>
                  <a:txBody>
                    <a:bodyPr/>
                    <a:lstStyle/>
                    <a:p>
                      <a:r>
                        <a:rPr sz="1200"/>
                        <a:t>Under 10%</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Store in store expansion</a:t>
            </a:r>
          </a:p>
        </p:txBody>
      </p:sp>
      <p:sp>
        <p:nvSpPr>
          <p:cNvPr id="3" name="TextBox 2"/>
          <p:cNvSpPr txBox="1"/>
          <p:nvPr/>
        </p:nvSpPr>
        <p:spPr>
          <a:xfrm>
            <a:off x="548640" y="1371600"/>
            <a:ext cx="11064240" cy="1508760"/>
          </a:xfrm>
          <a:prstGeom prst="rect">
            <a:avLst/>
          </a:prstGeom>
          <a:noFill/>
        </p:spPr>
        <p:txBody>
          <a:bodyPr wrap="square">
            <a:spAutoFit/>
          </a:bodyPr>
          <a:lstStyle/>
          <a:p>
            <a:r>
              <a:rPr sz="1600"/>
              <a:t>Compact shops inside department and sports partners extend reach</a:t>
            </a:r>
          </a:p>
          <a:p>
            <a:r>
              <a:rPr sz="1600"/>
              <a:t>Fixtures are standardized to keep installation fast and cheap</a:t>
            </a:r>
          </a:p>
          <a:p>
            <a:r>
              <a:rPr sz="1600"/>
              <a:t>Partners value the traffic generated by weekly drops and a clear price promise</a:t>
            </a:r>
          </a:p>
        </p:txBody>
      </p:sp>
      <p:graphicFrame>
        <p:nvGraphicFramePr>
          <p:cNvPr id="4" name="Table 3"/>
          <p:cNvGraphicFramePr>
            <a:graphicFrameLocks noGrp="1"/>
          </p:cNvGraphicFramePr>
          <p:nvPr/>
        </p:nvGraphicFramePr>
        <p:xfrm>
          <a:off x="548640" y="2971800"/>
          <a:ext cx="11064240" cy="182880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a:t>Measure</a:t>
                      </a:r>
                    </a:p>
                  </a:txBody>
                  <a:tcPr/>
                </a:tc>
                <a:tc>
                  <a:txBody>
                    <a:bodyPr/>
                    <a:lstStyle/>
                    <a:p>
                      <a:r>
                        <a:rPr sz="1200"/>
                        <a:t>Detail</a:t>
                      </a:r>
                    </a:p>
                  </a:txBody>
                  <a:tcPr/>
                </a:tc>
              </a:tr>
              <a:tr h="365760">
                <a:tc>
                  <a:txBody>
                    <a:bodyPr/>
                    <a:lstStyle/>
                    <a:p>
                      <a:r>
                        <a:rPr sz="1200"/>
                        <a:t>Doors at year end</a:t>
                      </a:r>
                    </a:p>
                  </a:txBody>
                  <a:tcPr/>
                </a:tc>
                <a:tc>
                  <a:txBody>
                    <a:bodyPr/>
                    <a:lstStyle/>
                    <a:p>
                      <a:r>
                        <a:rPr sz="1200"/>
                        <a:t>Store in store doors reached 1,100 at year end, up from 640.</a:t>
                      </a:r>
                    </a:p>
                  </a:txBody>
                  <a:tcPr/>
                </a:tc>
              </a:tr>
              <a:tr h="365760">
                <a:tc>
                  <a:txBody>
                    <a:bodyPr/>
                    <a:lstStyle/>
                    <a:p>
                      <a:r>
                        <a:rPr sz="1200"/>
                        <a:t>New partner chains signed</a:t>
                      </a:r>
                    </a:p>
                  </a:txBody>
                  <a:tcPr/>
                </a:tc>
                <a:tc>
                  <a:txBody>
                    <a:bodyPr/>
                    <a:lstStyle/>
                    <a:p>
                      <a:r>
                        <a:rPr sz="1200"/>
                        <a:t>3</a:t>
                      </a:r>
                    </a:p>
                  </a:txBody>
                  <a:tcPr/>
                </a:tc>
              </a:tr>
              <a:tr h="365760">
                <a:tc>
                  <a:txBody>
                    <a:bodyPr/>
                    <a:lstStyle/>
                    <a:p>
                      <a:r>
                        <a:rPr sz="1200"/>
                        <a:t>Typical fixture size</a:t>
                      </a:r>
                    </a:p>
                  </a:txBody>
                  <a:tcPr/>
                </a:tc>
                <a:tc>
                  <a:txBody>
                    <a:bodyPr/>
                    <a:lstStyle/>
                    <a:p>
                      <a:r>
                        <a:rPr sz="1200"/>
                        <a:t>Under 500 square feet</a:t>
                      </a:r>
                    </a:p>
                  </a:txBody>
                  <a:tcPr/>
                </a:tc>
              </a:tr>
              <a:tr h="365760">
                <a:tc>
                  <a:txBody>
                    <a:bodyPr/>
                    <a:lstStyle/>
                    <a:p>
                      <a:r>
                        <a:rPr sz="1200"/>
                        <a:t>Fixture payback</a:t>
                      </a:r>
                    </a:p>
                  </a:txBody>
                  <a:tcPr/>
                </a:tc>
                <a:tc>
                  <a:txBody>
                    <a:bodyPr/>
                    <a:lstStyle/>
                    <a:p>
                      <a:r>
                        <a:rPr sz="1200"/>
                        <a:t>Under 14 months</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Pricing and margin</a:t>
            </a:r>
          </a:p>
        </p:txBody>
      </p:sp>
      <p:sp>
        <p:nvSpPr>
          <p:cNvPr id="3" name="TextBox 2"/>
          <p:cNvSpPr txBox="1"/>
          <p:nvPr/>
        </p:nvSpPr>
        <p:spPr>
          <a:xfrm>
            <a:off x="548640" y="1371600"/>
            <a:ext cx="11064240" cy="1508760"/>
          </a:xfrm>
          <a:prstGeom prst="rect">
            <a:avLst/>
          </a:prstGeom>
          <a:noFill/>
        </p:spPr>
        <p:txBody>
          <a:bodyPr wrap="square">
            <a:spAutoFit/>
          </a:bodyPr>
          <a:lstStyle/>
          <a:p>
            <a:r>
              <a:rPr sz="1600"/>
              <a:t>Core leggings are held at $38 all season</a:t>
            </a:r>
          </a:p>
          <a:p>
            <a:r>
              <a:rPr sz="1600"/>
              <a:t>Seventy percent of the range sits below $50</a:t>
            </a:r>
          </a:p>
          <a:p>
            <a:r>
              <a:rPr sz="1600"/>
              <a:t>Volume purchasing, simple designs and low marketing cost sustain the margin</a:t>
            </a:r>
          </a:p>
        </p:txBody>
      </p:sp>
      <p:graphicFrame>
        <p:nvGraphicFramePr>
          <p:cNvPr id="4" name="Table 3"/>
          <p:cNvGraphicFramePr>
            <a:graphicFrameLocks noGrp="1"/>
          </p:cNvGraphicFramePr>
          <p:nvPr/>
        </p:nvGraphicFramePr>
        <p:xfrm>
          <a:off x="548640" y="2971800"/>
          <a:ext cx="11064240" cy="182880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a:t>Lever</a:t>
                      </a:r>
                    </a:p>
                  </a:txBody>
                  <a:tcPr/>
                </a:tc>
                <a:tc>
                  <a:txBody>
                    <a:bodyPr/>
                    <a:lstStyle/>
                    <a:p>
                      <a:r>
                        <a:rPr sz="1200"/>
                        <a:t>Effect on margin</a:t>
                      </a:r>
                    </a:p>
                  </a:txBody>
                  <a:tcPr/>
                </a:tc>
              </a:tr>
              <a:tr h="365760">
                <a:tc>
                  <a:txBody>
                    <a:bodyPr/>
                    <a:lstStyle/>
                    <a:p>
                      <a:r>
                        <a:rPr sz="1200"/>
                        <a:t>Fabric purchasing scale</a:t>
                      </a:r>
                    </a:p>
                  </a:txBody>
                  <a:tcPr/>
                </a:tc>
                <a:tc>
                  <a:txBody>
                    <a:bodyPr/>
                    <a:lstStyle/>
                    <a:p>
                      <a:r>
                        <a:rPr sz="1200"/>
                        <a:t>Positive</a:t>
                      </a:r>
                    </a:p>
                  </a:txBody>
                  <a:tcPr/>
                </a:tc>
              </a:tr>
              <a:tr h="365760">
                <a:tc>
                  <a:txBody>
                    <a:bodyPr/>
                    <a:lstStyle/>
                    <a:p>
                      <a:r>
                        <a:rPr sz="1200"/>
                        <a:t>Simple pattern design</a:t>
                      </a:r>
                    </a:p>
                  </a:txBody>
                  <a:tcPr/>
                </a:tc>
                <a:tc>
                  <a:txBody>
                    <a:bodyPr/>
                    <a:lstStyle/>
                    <a:p>
                      <a:r>
                        <a:rPr sz="1200"/>
                        <a:t>Positive</a:t>
                      </a:r>
                    </a:p>
                  </a:txBody>
                  <a:tcPr/>
                </a:tc>
              </a:tr>
              <a:tr h="365760">
                <a:tc>
                  <a:txBody>
                    <a:bodyPr/>
                    <a:lstStyle/>
                    <a:p>
                      <a:r>
                        <a:rPr sz="1200"/>
                        <a:t>Free returns</a:t>
                      </a:r>
                    </a:p>
                  </a:txBody>
                  <a:tcPr/>
                </a:tc>
                <a:tc>
                  <a:txBody>
                    <a:bodyPr/>
                    <a:lstStyle/>
                    <a:p>
                      <a:r>
                        <a:rPr sz="1200"/>
                        <a:t>Negative</a:t>
                      </a:r>
                    </a:p>
                  </a:txBody>
                  <a:tcPr/>
                </a:tc>
              </a:tr>
              <a:tr h="365760">
                <a:tc>
                  <a:txBody>
                    <a:bodyPr/>
                    <a:lstStyle/>
                    <a:p>
                      <a:r>
                        <a:rPr sz="1200"/>
                        <a:t>Fixture investment</a:t>
                      </a:r>
                    </a:p>
                  </a:txBody>
                  <a:tcPr/>
                </a:tc>
                <a:tc>
                  <a:txBody>
                    <a:bodyPr/>
                    <a:lstStyle/>
                    <a:p>
                      <a:r>
                        <a:rPr sz="1200"/>
                        <a:t>Negative, near term</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Stance on customization</a:t>
            </a:r>
          </a:p>
        </p:txBody>
      </p:sp>
      <p:sp>
        <p:nvSpPr>
          <p:cNvPr id="3" name="Content Placeholder 2"/>
          <p:cNvSpPr>
            <a:spLocks noGrp="1"/>
          </p:cNvSpPr>
          <p:nvPr>
            <p:ph idx="1"/>
          </p:nvPr>
        </p:nvSpPr>
        <p:spPr/>
        <p:txBody>
          <a:bodyPr/>
          <a:lstStyle/>
          <a:p>
            <a:r>
              <a:rPr sz="1800"/>
              <a:t>No plans to offer custom or personalized products</a:t>
            </a:r>
          </a:p>
          <a:p>
            <a:r>
              <a:rPr sz="1800"/>
              <a:t>Value positioning relies on a simple, repeatable manufacturing process</a:t>
            </a:r>
          </a:p>
          <a:p>
            <a:r>
              <a:rPr sz="1800"/>
              <a:t>Customer feedback focuses on price, fit consistency and newness, not custom options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Marketing and creators</a:t>
            </a:r>
          </a:p>
        </p:txBody>
      </p:sp>
      <p:sp>
        <p:nvSpPr>
          <p:cNvPr id="3" name="Content Placeholder 2"/>
          <p:cNvSpPr>
            <a:spLocks noGrp="1"/>
          </p:cNvSpPr>
          <p:nvPr>
            <p:ph idx="1"/>
          </p:nvPr>
        </p:nvSpPr>
        <p:spPr/>
        <p:txBody>
          <a:bodyPr/>
          <a:lstStyle/>
          <a:p>
            <a:r>
              <a:rPr sz="1800"/>
              <a:t>Creator Crew members drive a growing share of new customer orders</a:t>
            </a:r>
          </a:p>
          <a:p>
            <a:r>
              <a:rPr sz="1800"/>
              <a:t>Short form try on videos outperform paid campaigns on cost per acquisition</a:t>
            </a:r>
          </a:p>
          <a:p>
            <a:r>
              <a:rPr sz="1800"/>
              <a:t>Marketing spend stays a low single digit percent of sales</a:t>
            </a:r>
          </a:p>
          <a:p>
            <a:r>
              <a:rPr sz="1800"/>
              <a:t>Community challenges keep customers engaged between drops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Operations and risks</a:t>
            </a:r>
          </a:p>
        </p:txBody>
      </p:sp>
      <p:sp>
        <p:nvSpPr>
          <p:cNvPr id="3" name="Content Placeholder 2"/>
          <p:cNvSpPr>
            <a:spLocks noGrp="1"/>
          </p:cNvSpPr>
          <p:nvPr>
            <p:ph idx="1"/>
          </p:nvPr>
        </p:nvSpPr>
        <p:spPr/>
        <p:txBody>
          <a:bodyPr/>
          <a:lstStyle/>
          <a:p>
            <a:r>
              <a:rPr sz="1800"/>
              <a:t>Key risks: fabric cost swings, partner concentration and drop fatigue</a:t>
            </a:r>
          </a:p>
          <a:p>
            <a:r>
              <a:rPr sz="1800"/>
              <a:t>Supplier diversification under way across two additional regions</a:t>
            </a:r>
          </a:p>
          <a:p>
            <a:r>
              <a:rPr sz="1800"/>
              <a:t>Inventory discipline remains the primary control on margin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Outlook for 2026</a:t>
            </a:r>
          </a:p>
        </p:txBody>
      </p:sp>
      <p:sp>
        <p:nvSpPr>
          <p:cNvPr id="3" name="Content Placeholder 2"/>
          <p:cNvSpPr>
            <a:spLocks noGrp="1"/>
          </p:cNvSpPr>
          <p:nvPr>
            <p:ph idx="1"/>
          </p:nvPr>
        </p:nvSpPr>
        <p:spPr/>
        <p:txBody>
          <a:bodyPr/>
          <a:lstStyle/>
          <a:p>
            <a:r>
              <a:rPr sz="1800"/>
              <a:t>Continue the two week drop cadence with an expanded range of sizes</a:t>
            </a:r>
          </a:p>
          <a:p>
            <a:r>
              <a:rPr sz="1800"/>
              <a:t>Increase sales per door rather than aggressively adding new doors</a:t>
            </a:r>
          </a:p>
          <a:p>
            <a:r>
              <a:rPr sz="1800"/>
              <a:t>Grow the app base through creator and community programs</a:t>
            </a:r>
          </a:p>
          <a:p>
            <a:r>
              <a:rPr sz="1800"/>
              <a:t>Maintain the price promise on core essentials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Pace &amp; Co. Investor Update</dc:title>
  <dc:subject>Fictional data created for the MarketSignal demo.</dc:subject>
  <dc:creator>MarketSignal seed generator</dc:creator>
  <cp:keywords/>
  <dc:description>generated using python-pptx</dc:description>
  <cp:lastModifiedBy>MarketSignal seed generator</cp:lastModifiedBy>
  <cp:revision>1</cp:revision>
  <dcterms:created xsi:type="dcterms:W3CDTF">2026-01-01T00:00:00Z</dcterms:created>
  <dcterms:modified xsi:type="dcterms:W3CDTF">2026-01-01T00:00:00Z</dcterms:modified>
  <cp:category/>
  <cp:lastPrinted>2026-01-01T00:00:00Z</cp:lastPrinted>
</cp:coreProperties>
</file>