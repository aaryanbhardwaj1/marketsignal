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review covers Q2 results and sets the agenda for the second half. We have kept the discussion to the topics where leadership decisions are needed today. Appendix material on segments sits at the back of the pack.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line is on plan, and Q2 was our largest quarter to date. The softer spot is customer sentiment among Gen Z, where the decline in NPS lines up with the fit and durability complaints we will cover later in this session. FY26 figures are latest estimates because the year is still open.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Shop is the story of the quarter. It started from a small base, so the growth rate overstates the absolute contribution, but the channel is where Gen Z discovery and checkout are converging. We recommend that the FY27 plan treat it as a core channel, with its own inventory allocation and creator programs.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survey is consistent with what support and reviews are telling us. Young customers like the product but do not trust it to fit the same way twice. Price sensitivity is higher than among older customers, so any premium has to be explained by something visible. We are treating the fit work as the highest priority consumer issue.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Knit Runner 2 durability issue cost an estimated $3.1 million in Q2 returns and replacements. The figure includes refunds, replacement shipping and write downs on returned stock that could not be resold at full price. The revised construction is expected to reach production in the autumn run, and until then we recommend limiting promotion. Customer sentiment around this shoe is a drag on Gen Z NPS.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 is where customers lose confidence, and it is also where the cost shows up in returns and support contacts. The proposed standard needs product, merchandising and technical design to agree on a single grading logic. We will bring a launch plan and a cost estimate for the exchange guarantee to the next leadership meeting.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Early read from week six of the pilot showed personalized buyers repeating at 27%, but the sample was under 300 customers. We would caution against reading this as evidence that personalization lifts loyalty. Early repeaters tend to be the most engaged customers, and the matched control comparison is not yet available. The full ninety day window closes after the pilot ends, so conclusions should wait for the final readout.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Operations has done well to run the pilot at all, but the lead time is a structural challenge. Gen Z customers in our research say delivery speed matters, and a twelve day wait cuts against that expectation. Any broader rollout would need either faster production or much clearer expectation setting.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Interest in colorway customization is clear at the top of the funnel, and email clicks are a cheap, fast signal. But clicks are not purchases, and the pilot suggests that interest does not automatically convert into willingness to pay a premium or to wait. We should keep the test running and measure downstream conversion.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competitive map supports our positioning work. Vantage is investing in fit technology but within a premium frame. Kinetic Lab proves demand for customization, though its economics and lead times limit scale. Pace &amp; Co. wins on price and cadence. The open space is the dependable fit brand for everyday athletes.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Leadership agreed to pause any national rollout of personalization until the full pilot readout in October. The reasoning is that the early signal came from a tiny sample and that the operational constraints are significant. The other three decisions are about fixing basics where evidence is strong. We would like confirmation of each today so teams can begin planning for FY27.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Owners will report back at the September leadership meeting. The final pilot readout will be circulated as soon as the observation window and exit survey are complete.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Northstar Q3 Strategy Review</a:t>
            </a:r>
          </a:p>
        </p:txBody>
      </p:sp>
      <p:sp>
        <p:nvSpPr>
          <p:cNvPr id="3" name="Subtitle 2"/>
          <p:cNvSpPr>
            <a:spLocks noGrp="1"/>
          </p:cNvSpPr>
          <p:nvPr>
            <p:ph type="subTitle" idx="1"/>
          </p:nvPr>
        </p:nvSpPr>
        <p:spPr/>
        <p:txBody>
          <a:bodyPr/>
          <a:lstStyle/>
          <a:p>
            <a:r>
              <a:t>Leadership review - July 21, 2026</a:t>
            </a:r>
          </a:p>
          <a:p>
            <a:r>
              <a:t>Fictional data created for the MarketSignal 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rPr sz="1800"/>
              <a:t>Q2 FY26 headline results and revenue mix</a:t>
            </a:r>
          </a:p>
          <a:p>
            <a:r>
              <a:rPr sz="1800"/>
              <a:t>Channel momentum and Gen Z customer health</a:t>
            </a:r>
          </a:p>
          <a:p>
            <a:r>
              <a:rPr sz="1800"/>
              <a:t>Product issues: Knit Runner 2 durability and fit consistency</a:t>
            </a:r>
          </a:p>
          <a:p>
            <a:r>
              <a:rPr sz="1800"/>
              <a:t>Personalization pilot: early read and open questions</a:t>
            </a:r>
          </a:p>
          <a:p>
            <a:r>
              <a:rPr sz="1800"/>
              <a:t>Marketing tests, competitor watch, decisions and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Q2 headline results</a:t>
            </a:r>
          </a:p>
        </p:txBody>
      </p:sp>
      <p:sp>
        <p:nvSpPr>
          <p:cNvPr id="3" name="Content Placeholder 2"/>
          <p:cNvSpPr>
            <a:spLocks noGrp="1"/>
          </p:cNvSpPr>
          <p:nvPr>
            <p:ph idx="1"/>
          </p:nvPr>
        </p:nvSpPr>
        <p:spPr/>
        <p:txBody>
          <a:bodyPr/>
          <a:lstStyle/>
          <a:p>
            <a:r>
              <a:rPr sz="1800"/>
              <a:t>Q2 FY26 net revenue reached $158 million, 6% above the same quarter last year.</a:t>
            </a:r>
          </a:p>
          <a:p>
            <a:r>
              <a:rPr sz="1800"/>
              <a:t>Q1 to Q2 sequential growth was strong, with seasonal lift in running footwear and leggings.</a:t>
            </a:r>
          </a:p>
          <a:p>
            <a:r>
              <a:rPr sz="1800"/>
              <a:t>FY26 latest estimate remains $612.0 million with gross margin of 47.2%.</a:t>
            </a:r>
          </a:p>
          <a:p>
            <a:r>
              <a:rPr sz="1800"/>
              <a:t>Gen Z NPS fell to 22 in Q2 from 28 in Q1.</a:t>
            </a:r>
          </a:p>
          <a:p>
            <a:r>
              <a:rPr sz="1800"/>
              <a:t>Gen Z revenue is projected to grow 13.8% in FY26, ahead of the company overall.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Revenue mix by category</a:t>
            </a:r>
          </a:p>
        </p:txBody>
      </p:sp>
      <p:sp>
        <p:nvSpPr>
          <p:cNvPr id="3" name="TextBox 2"/>
          <p:cNvSpPr txBox="1"/>
          <p:nvPr/>
        </p:nvSpPr>
        <p:spPr>
          <a:xfrm>
            <a:off x="548640" y="1371600"/>
            <a:ext cx="11064240" cy="1920240"/>
          </a:xfrm>
          <a:prstGeom prst="rect">
            <a:avLst/>
          </a:prstGeom>
          <a:noFill/>
        </p:spPr>
        <p:txBody>
          <a:bodyPr wrap="square">
            <a:spAutoFit/>
          </a:bodyPr>
          <a:lstStyle/>
          <a:p>
            <a:r>
              <a:rPr sz="1600"/>
              <a:t>Running footwear remains the largest category at 22% of net revenue.</a:t>
            </a:r>
          </a:p>
          <a:p>
            <a:r>
              <a:rPr sz="1600"/>
              <a:t>Leggings and bottoms carry the best margin at 52.0%, ahead of tops at 50.5%.</a:t>
            </a:r>
          </a:p>
          <a:p>
            <a:r>
              <a:rPr sz="1600"/>
              <a:t>Training footwear (12%) and accessories (7%) are not shown in the table.</a:t>
            </a:r>
          </a:p>
          <a:p>
            <a:r>
              <a:rPr sz="1600"/>
              <a:t>Accessories margin of 41.0% is the lowest in the range.</a:t>
            </a:r>
          </a:p>
        </p:txBody>
      </p:sp>
      <p:graphicFrame>
        <p:nvGraphicFramePr>
          <p:cNvPr id="4" name="Table 3"/>
          <p:cNvGraphicFramePr>
            <a:graphicFrameLocks noGrp="1"/>
          </p:cNvGraphicFramePr>
          <p:nvPr/>
        </p:nvGraphicFramePr>
        <p:xfrm>
          <a:off x="548640" y="338328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a:t>Category</a:t>
                      </a:r>
                    </a:p>
                  </a:txBody>
                  <a:tcPr/>
                </a:tc>
                <a:tc>
                  <a:txBody>
                    <a:bodyPr/>
                    <a:lstStyle/>
                    <a:p>
                      <a:r>
                        <a:rPr sz="1200"/>
                        <a:t>Share of revenue</a:t>
                      </a:r>
                    </a:p>
                  </a:txBody>
                  <a:tcPr/>
                </a:tc>
                <a:tc>
                  <a:txBody>
                    <a:bodyPr/>
                    <a:lstStyle/>
                    <a:p>
                      <a:r>
                        <a:rPr sz="1200"/>
                        <a:t>Gross margin</a:t>
                      </a:r>
                    </a:p>
                  </a:txBody>
                  <a:tcPr/>
                </a:tc>
              </a:tr>
              <a:tr h="365760">
                <a:tc>
                  <a:txBody>
                    <a:bodyPr/>
                    <a:lstStyle/>
                    <a:p>
                      <a:r>
                        <a:rPr sz="1200"/>
                        <a:t>Running Footwear</a:t>
                      </a:r>
                    </a:p>
                  </a:txBody>
                  <a:tcPr/>
                </a:tc>
                <a:tc>
                  <a:txBody>
                    <a:bodyPr/>
                    <a:lstStyle/>
                    <a:p>
                      <a:r>
                        <a:rPr sz="1200"/>
                        <a:t>22%</a:t>
                      </a:r>
                    </a:p>
                  </a:txBody>
                  <a:tcPr/>
                </a:tc>
                <a:tc>
                  <a:txBody>
                    <a:bodyPr/>
                    <a:lstStyle/>
                    <a:p>
                      <a:r>
                        <a:rPr sz="1200"/>
                        <a:t>45.5%</a:t>
                      </a:r>
                    </a:p>
                  </a:txBody>
                  <a:tcPr/>
                </a:tc>
              </a:tr>
              <a:tr h="365760">
                <a:tc>
                  <a:txBody>
                    <a:bodyPr/>
                    <a:lstStyle/>
                    <a:p>
                      <a:r>
                        <a:rPr sz="1200"/>
                        <a:t>Leggings and Bottoms</a:t>
                      </a:r>
                    </a:p>
                  </a:txBody>
                  <a:tcPr/>
                </a:tc>
                <a:tc>
                  <a:txBody>
                    <a:bodyPr/>
                    <a:lstStyle/>
                    <a:p>
                      <a:r>
                        <a:rPr sz="1200"/>
                        <a:t>19%</a:t>
                      </a:r>
                    </a:p>
                  </a:txBody>
                  <a:tcPr/>
                </a:tc>
                <a:tc>
                  <a:txBody>
                    <a:bodyPr/>
                    <a:lstStyle/>
                    <a:p>
                      <a:r>
                        <a:rPr sz="1200"/>
                        <a:t>52.0%</a:t>
                      </a:r>
                    </a:p>
                  </a:txBody>
                  <a:tcPr/>
                </a:tc>
              </a:tr>
              <a:tr h="365760">
                <a:tc>
                  <a:txBody>
                    <a:bodyPr/>
                    <a:lstStyle/>
                    <a:p>
                      <a:r>
                        <a:rPr sz="1200"/>
                        <a:t>Tops and Tees</a:t>
                      </a:r>
                    </a:p>
                  </a:txBody>
                  <a:tcPr/>
                </a:tc>
                <a:tc>
                  <a:txBody>
                    <a:bodyPr/>
                    <a:lstStyle/>
                    <a:p>
                      <a:r>
                        <a:rPr sz="1200"/>
                        <a:t>14%</a:t>
                      </a:r>
                    </a:p>
                  </a:txBody>
                  <a:tcPr/>
                </a:tc>
                <a:tc>
                  <a:txBody>
                    <a:bodyPr/>
                    <a:lstStyle/>
                    <a:p>
                      <a:r>
                        <a:rPr sz="1200"/>
                        <a:t>50.5%</a:t>
                      </a:r>
                    </a:p>
                  </a:txBody>
                  <a:tcPr/>
                </a:tc>
              </a:tr>
              <a:tr h="365760">
                <a:tc>
                  <a:txBody>
                    <a:bodyPr/>
                    <a:lstStyle/>
                    <a:p>
                      <a:r>
                        <a:rPr sz="1200"/>
                        <a:t>Court and Lifestyle</a:t>
                      </a:r>
                    </a:p>
                  </a:txBody>
                  <a:tcPr/>
                </a:tc>
                <a:tc>
                  <a:txBody>
                    <a:bodyPr/>
                    <a:lstStyle/>
                    <a:p>
                      <a:r>
                        <a:rPr sz="1200"/>
                        <a:t>13%</a:t>
                      </a:r>
                    </a:p>
                  </a:txBody>
                  <a:tcPr/>
                </a:tc>
                <a:tc>
                  <a:txBody>
                    <a:bodyPr/>
                    <a:lstStyle/>
                    <a:p>
                      <a:r>
                        <a:rPr sz="1200"/>
                        <a:t>48.5%</a:t>
                      </a:r>
                    </a:p>
                  </a:txBody>
                  <a:tcPr/>
                </a:tc>
              </a:tr>
              <a:tr h="365760">
                <a:tc>
                  <a:txBody>
                    <a:bodyPr/>
                    <a:lstStyle/>
                    <a:p>
                      <a:r>
                        <a:rPr sz="1200"/>
                        <a:t>Outerwear and Hoodies</a:t>
                      </a:r>
                    </a:p>
                  </a:txBody>
                  <a:tcPr/>
                </a:tc>
                <a:tc>
                  <a:txBody>
                    <a:bodyPr/>
                    <a:lstStyle/>
                    <a:p>
                      <a:r>
                        <a:rPr sz="1200"/>
                        <a:t>13%</a:t>
                      </a:r>
                    </a:p>
                  </a:txBody>
                  <a:tcPr/>
                </a:tc>
                <a:tc>
                  <a:txBody>
                    <a:bodyPr/>
                    <a:lstStyle/>
                    <a:p>
                      <a:r>
                        <a:rPr sz="1200"/>
                        <a:t>47.0%</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Channel momentum</a:t>
            </a:r>
          </a:p>
        </p:txBody>
      </p:sp>
      <p:sp>
        <p:nvSpPr>
          <p:cNvPr id="3" name="TextBox 2"/>
          <p:cNvSpPr txBox="1"/>
          <p:nvPr/>
        </p:nvSpPr>
        <p:spPr>
          <a:xfrm>
            <a:off x="548640" y="1371600"/>
            <a:ext cx="11064240" cy="1920240"/>
          </a:xfrm>
          <a:prstGeom prst="rect">
            <a:avLst/>
          </a:prstGeom>
          <a:noFill/>
        </p:spPr>
        <p:txBody>
          <a:bodyPr wrap="square">
            <a:spAutoFit/>
          </a:bodyPr>
          <a:lstStyle/>
          <a:p>
            <a:r>
              <a:rPr sz="1600"/>
              <a:t>Social Shop is now a material channel for Gen Z and drives the fastest growth.</a:t>
            </a:r>
          </a:p>
          <a:p>
            <a:r>
              <a:rPr sz="1600"/>
              <a:t>Brand Site and App remain the core of direct sales, with steady conversion.</a:t>
            </a:r>
          </a:p>
          <a:p>
            <a:r>
              <a:rPr sz="1600"/>
              <a:t>Stores are flat to slightly up, led by the three pilot locations.</a:t>
            </a:r>
          </a:p>
          <a:p>
            <a:r>
              <a:rPr sz="1600"/>
              <a:t>Marketplace volume is rising, with margin dilution to watch.</a:t>
            </a:r>
          </a:p>
        </p:txBody>
      </p:sp>
      <p:graphicFrame>
        <p:nvGraphicFramePr>
          <p:cNvPr id="4" name="Table 3"/>
          <p:cNvGraphicFramePr>
            <a:graphicFrameLocks noGrp="1"/>
          </p:cNvGraphicFramePr>
          <p:nvPr/>
        </p:nvGraphicFramePr>
        <p:xfrm>
          <a:off x="548640" y="3383280"/>
          <a:ext cx="11064240" cy="219456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a:t>Channel</a:t>
                      </a:r>
                    </a:p>
                  </a:txBody>
                  <a:tcPr/>
                </a:tc>
                <a:tc>
                  <a:txBody>
                    <a:bodyPr/>
                    <a:lstStyle/>
                    <a:p>
                      <a:r>
                        <a:rPr sz="1200"/>
                        <a:t>Q2 FY26 read</a:t>
                      </a:r>
                    </a:p>
                  </a:txBody>
                  <a:tcPr/>
                </a:tc>
              </a:tr>
              <a:tr h="365760">
                <a:tc>
                  <a:txBody>
                    <a:bodyPr/>
                    <a:lstStyle/>
                    <a:p>
                      <a:r>
                        <a:rPr sz="1200"/>
                        <a:t>Social Shop</a:t>
                      </a:r>
                    </a:p>
                  </a:txBody>
                  <a:tcPr/>
                </a:tc>
                <a:tc>
                  <a:txBody>
                    <a:bodyPr/>
                    <a:lstStyle/>
                    <a:p>
                      <a:r>
                        <a:rPr sz="1200"/>
                        <a:t>Social Shop sales grew 142% quarter over quarter, the fastest of any channel.</a:t>
                      </a:r>
                    </a:p>
                  </a:txBody>
                  <a:tcPr/>
                </a:tc>
              </a:tr>
              <a:tr h="365760">
                <a:tc>
                  <a:txBody>
                    <a:bodyPr/>
                    <a:lstStyle/>
                    <a:p>
                      <a:r>
                        <a:rPr sz="1200"/>
                        <a:t>Brand Site</a:t>
                      </a:r>
                    </a:p>
                  </a:txBody>
                  <a:tcPr/>
                </a:tc>
                <a:tc>
                  <a:txBody>
                    <a:bodyPr/>
                    <a:lstStyle/>
                    <a:p>
                      <a:r>
                        <a:rPr sz="1200"/>
                        <a:t>Steady traffic, conversion up modestly</a:t>
                      </a:r>
                    </a:p>
                  </a:txBody>
                  <a:tcPr/>
                </a:tc>
              </a:tr>
              <a:tr h="365760">
                <a:tc>
                  <a:txBody>
                    <a:bodyPr/>
                    <a:lstStyle/>
                    <a:p>
                      <a:r>
                        <a:rPr sz="1200"/>
                        <a:t>App</a:t>
                      </a:r>
                    </a:p>
                  </a:txBody>
                  <a:tcPr/>
                </a:tc>
                <a:tc>
                  <a:txBody>
                    <a:bodyPr/>
                    <a:lstStyle/>
                    <a:p>
                      <a:r>
                        <a:rPr sz="1200"/>
                        <a:t>Highest order values, loyal repeat base</a:t>
                      </a:r>
                    </a:p>
                  </a:txBody>
                  <a:tcPr/>
                </a:tc>
              </a:tr>
              <a:tr h="365760">
                <a:tc>
                  <a:txBody>
                    <a:bodyPr/>
                    <a:lstStyle/>
                    <a:p>
                      <a:r>
                        <a:rPr sz="1200"/>
                        <a:t>Marketplace</a:t>
                      </a:r>
                    </a:p>
                  </a:txBody>
                  <a:tcPr/>
                </a:tc>
                <a:tc>
                  <a:txBody>
                    <a:bodyPr/>
                    <a:lstStyle/>
                    <a:p>
                      <a:r>
                        <a:rPr sz="1200"/>
                        <a:t>Volume rising, margin under pressure</a:t>
                      </a:r>
                    </a:p>
                  </a:txBody>
                  <a:tcPr/>
                </a:tc>
              </a:tr>
              <a:tr h="365760">
                <a:tc>
                  <a:txBody>
                    <a:bodyPr/>
                    <a:lstStyle/>
                    <a:p>
                      <a:r>
                        <a:rPr sz="1200"/>
                        <a:t>Stores</a:t>
                      </a:r>
                    </a:p>
                  </a:txBody>
                  <a:tcPr/>
                </a:tc>
                <a:tc>
                  <a:txBody>
                    <a:bodyPr/>
                    <a:lstStyle/>
                    <a:p>
                      <a:r>
                        <a:rPr sz="1200"/>
                        <a:t>Flat to slightly up</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 Z customer health</a:t>
            </a:r>
          </a:p>
        </p:txBody>
      </p:sp>
      <p:sp>
        <p:nvSpPr>
          <p:cNvPr id="3" name="Content Placeholder 2"/>
          <p:cNvSpPr>
            <a:spLocks noGrp="1"/>
          </p:cNvSpPr>
          <p:nvPr>
            <p:ph idx="1"/>
          </p:nvPr>
        </p:nvSpPr>
        <p:spPr/>
        <p:txBody>
          <a:bodyPr/>
          <a:lstStyle/>
          <a:p>
            <a:r>
              <a:rPr sz="1800"/>
              <a:t>May survey, 400 Gen Z respondents: fit inconsistency is the top frustration, ahead of price versus value.</a:t>
            </a:r>
          </a:p>
          <a:p>
            <a:r>
              <a:rPr sz="1800"/>
              <a:t>Gen Z NPS sits well below the 49 recorded among customers aged 28 and older.</a:t>
            </a:r>
          </a:p>
          <a:p>
            <a:r>
              <a:rPr sz="1800"/>
              <a:t>Price sensitivity averages 3.9 on a five point scale, against 3.2 for older customers.</a:t>
            </a:r>
          </a:p>
          <a:p>
            <a:r>
              <a:rPr sz="1800"/>
              <a:t>Sizing across categories and knit upper durability are the next most cited issues.</a:t>
            </a:r>
          </a:p>
          <a:p>
            <a:r>
              <a:rPr sz="1800"/>
              <a:t>Aided awareness trails Vantage Athletic by 25 points.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 Z segment mix</a:t>
            </a:r>
          </a:p>
        </p:txBody>
      </p:sp>
      <p:sp>
        <p:nvSpPr>
          <p:cNvPr id="3" name="TextBox 2"/>
          <p:cNvSpPr txBox="1"/>
          <p:nvPr/>
        </p:nvSpPr>
        <p:spPr>
          <a:xfrm>
            <a:off x="548640" y="1371600"/>
            <a:ext cx="11064240" cy="1920240"/>
          </a:xfrm>
          <a:prstGeom prst="rect">
            <a:avLst/>
          </a:prstGeom>
          <a:noFill/>
        </p:spPr>
        <p:txBody>
          <a:bodyPr wrap="square">
            <a:spAutoFit/>
          </a:bodyPr>
          <a:lstStyle/>
          <a:p>
            <a:r>
              <a:rPr sz="1600"/>
              <a:t>Studio Social is the largest segment and carries the highest average order value at $94.</a:t>
            </a:r>
          </a:p>
          <a:p>
            <a:r>
              <a:rPr sz="1600"/>
              <a:t>Value Seekers are the second largest and the most exposed to Pace &amp; Co.</a:t>
            </a:r>
          </a:p>
          <a:p>
            <a:r>
              <a:rPr sz="1600"/>
              <a:t>Trail Starters are the smallest segment and the most affected by knit durability.</a:t>
            </a:r>
          </a:p>
          <a:p>
            <a:r>
              <a:rPr sz="1600"/>
              <a:t>Campus Competitors respond strongly to peer and team led content.</a:t>
            </a:r>
          </a:p>
        </p:txBody>
      </p:sp>
      <p:graphicFrame>
        <p:nvGraphicFramePr>
          <p:cNvPr id="4" name="Table 3"/>
          <p:cNvGraphicFramePr>
            <a:graphicFrameLocks noGrp="1"/>
          </p:cNvGraphicFramePr>
          <p:nvPr/>
        </p:nvGraphicFramePr>
        <p:xfrm>
          <a:off x="548640" y="338328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a:t>Segment</a:t>
                      </a:r>
                    </a:p>
                  </a:txBody>
                  <a:tcPr/>
                </a:tc>
                <a:tc>
                  <a:txBody>
                    <a:bodyPr/>
                    <a:lstStyle/>
                    <a:p>
                      <a:r>
                        <a:rPr sz="1200"/>
                        <a:t>Share of Gen Z</a:t>
                      </a:r>
                    </a:p>
                  </a:txBody>
                  <a:tcPr/>
                </a:tc>
                <a:tc>
                  <a:txBody>
                    <a:bodyPr/>
                    <a:lstStyle/>
                    <a:p>
                      <a:r>
                        <a:rPr sz="1200"/>
                        <a:t>Focus</a:t>
                      </a:r>
                    </a:p>
                  </a:txBody>
                  <a:tcPr/>
                </a:tc>
              </a:tr>
              <a:tr h="365760">
                <a:tc>
                  <a:txBody>
                    <a:bodyPr/>
                    <a:lstStyle/>
                    <a:p>
                      <a:r>
                        <a:rPr sz="1200"/>
                        <a:t>Studio Social</a:t>
                      </a:r>
                    </a:p>
                  </a:txBody>
                  <a:tcPr/>
                </a:tc>
                <a:tc>
                  <a:txBody>
                    <a:bodyPr/>
                    <a:lstStyle/>
                    <a:p>
                      <a:r>
                        <a:rPr sz="1200"/>
                        <a:t>31%</a:t>
                      </a:r>
                    </a:p>
                  </a:txBody>
                  <a:tcPr/>
                </a:tc>
                <a:tc>
                  <a:txBody>
                    <a:bodyPr/>
                    <a:lstStyle/>
                    <a:p>
                      <a:r>
                        <a:rPr sz="1200"/>
                        <a:t>Fit consistency</a:t>
                      </a:r>
                    </a:p>
                  </a:txBody>
                  <a:tcPr/>
                </a:tc>
              </a:tr>
              <a:tr h="365760">
                <a:tc>
                  <a:txBody>
                    <a:bodyPr/>
                    <a:lstStyle/>
                    <a:p>
                      <a:r>
                        <a:rPr sz="1200"/>
                        <a:t>Value Seekers</a:t>
                      </a:r>
                    </a:p>
                  </a:txBody>
                  <a:tcPr/>
                </a:tc>
                <a:tc>
                  <a:txBody>
                    <a:bodyPr/>
                    <a:lstStyle/>
                    <a:p>
                      <a:r>
                        <a:rPr sz="1200"/>
                        <a:t>26%</a:t>
                      </a:r>
                    </a:p>
                  </a:txBody>
                  <a:tcPr/>
                </a:tc>
                <a:tc>
                  <a:txBody>
                    <a:bodyPr/>
                    <a:lstStyle/>
                    <a:p>
                      <a:r>
                        <a:rPr sz="1200"/>
                        <a:t>Price and value</a:t>
                      </a:r>
                    </a:p>
                  </a:txBody>
                  <a:tcPr/>
                </a:tc>
              </a:tr>
              <a:tr h="365760">
                <a:tc>
                  <a:txBody>
                    <a:bodyPr/>
                    <a:lstStyle/>
                    <a:p>
                      <a:r>
                        <a:rPr sz="1200"/>
                        <a:t>Campus Competitors</a:t>
                      </a:r>
                    </a:p>
                  </a:txBody>
                  <a:tcPr/>
                </a:tc>
                <a:tc>
                  <a:txBody>
                    <a:bodyPr/>
                    <a:lstStyle/>
                    <a:p>
                      <a:r>
                        <a:rPr sz="1200"/>
                        <a:t>24%</a:t>
                      </a:r>
                    </a:p>
                  </a:txBody>
                  <a:tcPr/>
                </a:tc>
                <a:tc>
                  <a:txBody>
                    <a:bodyPr/>
                    <a:lstStyle/>
                    <a:p>
                      <a:r>
                        <a:rPr sz="1200"/>
                        <a:t>Team and peer content</a:t>
                      </a:r>
                    </a:p>
                  </a:txBody>
                  <a:tcPr/>
                </a:tc>
              </a:tr>
              <a:tr h="365760">
                <a:tc>
                  <a:txBody>
                    <a:bodyPr/>
                    <a:lstStyle/>
                    <a:p>
                      <a:r>
                        <a:rPr sz="1200"/>
                        <a:t>Trail Starters</a:t>
                      </a:r>
                    </a:p>
                  </a:txBody>
                  <a:tcPr/>
                </a:tc>
                <a:tc>
                  <a:txBody>
                    <a:bodyPr/>
                    <a:lstStyle/>
                    <a:p>
                      <a:r>
                        <a:rPr sz="1200"/>
                        <a:t>19%</a:t>
                      </a:r>
                    </a:p>
                  </a:txBody>
                  <a:tcPr/>
                </a:tc>
                <a:tc>
                  <a:txBody>
                    <a:bodyPr/>
                    <a:lstStyle/>
                    <a:p>
                      <a:r>
                        <a:rPr sz="1200"/>
                        <a:t>Durability, guidance</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Knit Runner 2 durability issue</a:t>
            </a:r>
          </a:p>
        </p:txBody>
      </p:sp>
      <p:sp>
        <p:nvSpPr>
          <p:cNvPr id="3" name="Content Placeholder 2"/>
          <p:cNvSpPr>
            <a:spLocks noGrp="1"/>
          </p:cNvSpPr>
          <p:nvPr>
            <p:ph idx="1"/>
          </p:nvPr>
        </p:nvSpPr>
        <p:spPr/>
        <p:txBody>
          <a:bodyPr/>
          <a:lstStyle/>
          <a:p>
            <a:r>
              <a:rPr sz="1800"/>
              <a:t>Return rate on the Knit Runner 2 is 16.8%, against 13.1% for the original Knit Runner.</a:t>
            </a:r>
          </a:p>
          <a:p>
            <a:r>
              <a:rPr sz="1800"/>
              <a:t>Most complaints describe fraying near the toe flex point within a few months of wear.</a:t>
            </a:r>
          </a:p>
          <a:p>
            <a:r>
              <a:rPr sz="1800"/>
              <a:t>Engineering is testing a reinforced toe zone and revised yarn blend.</a:t>
            </a:r>
          </a:p>
          <a:p>
            <a:r>
              <a:rPr sz="1800"/>
              <a:t>Support guidance is being updated so early fraying is not treated as normal wear.</a:t>
            </a:r>
          </a:p>
          <a:p>
            <a:r>
              <a:rPr sz="1800"/>
              <a:t>Paid promotion of the shoe to Trail Starters is on hold.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Fit and sizing consistency</a:t>
            </a:r>
          </a:p>
        </p:txBody>
      </p:sp>
      <p:sp>
        <p:nvSpPr>
          <p:cNvPr id="3" name="Content Placeholder 2"/>
          <p:cNvSpPr>
            <a:spLocks noGrp="1"/>
          </p:cNvSpPr>
          <p:nvPr>
            <p:ph idx="1"/>
          </p:nvPr>
        </p:nvSpPr>
        <p:spPr/>
        <p:txBody>
          <a:bodyPr/>
          <a:lstStyle/>
          <a:p>
            <a:r>
              <a:rPr sz="1800"/>
              <a:t>Customers report different sizes across joggers, hoodies, leggings and tees.</a:t>
            </a:r>
          </a:p>
          <a:p>
            <a:r>
              <a:rPr sz="1800"/>
              <a:t>Focus group participants described abandoning carts because size charts did not match other brands they own.</a:t>
            </a:r>
          </a:p>
          <a:p>
            <a:r>
              <a:rPr sz="1800"/>
              <a:t>Cross category fit standard proposed, with grading rules unified across lines.</a:t>
            </a:r>
          </a:p>
          <a:p>
            <a:r>
              <a:rPr sz="1800"/>
              <a:t>Exchange guarantee under design to remove the cost of getting it wrong.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Personalization pilot: early read</a:t>
            </a:r>
          </a:p>
        </p:txBody>
      </p:sp>
      <p:sp>
        <p:nvSpPr>
          <p:cNvPr id="3" name="Content Placeholder 2"/>
          <p:cNvSpPr>
            <a:spLocks noGrp="1"/>
          </p:cNvSpPr>
          <p:nvPr>
            <p:ph idx="1"/>
          </p:nvPr>
        </p:nvSpPr>
        <p:spPr/>
        <p:txBody>
          <a:bodyPr/>
          <a:lstStyle/>
          <a:p>
            <a:r>
              <a:rPr sz="1800"/>
              <a:t>Pilot ran April 6 to June 28 in three stores plus online, covering in store fit scans and online custom colorways and monograms.</a:t>
            </a:r>
          </a:p>
          <a:p>
            <a:r>
              <a:rPr sz="1800"/>
              <a:t>Early repeat purchase signals were encouraging but came from a very small sample.</a:t>
            </a:r>
          </a:p>
          <a:p>
            <a:r>
              <a:rPr sz="1800"/>
              <a:t>Premium tier take up looks soft relative to stated interest in surveys.</a:t>
            </a:r>
          </a:p>
          <a:p>
            <a:r>
              <a:rPr sz="1800"/>
              <a:t>Final results depend on the full 90 day repeat window, which is still running.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Personalization pilot: operations</a:t>
            </a:r>
          </a:p>
        </p:txBody>
      </p:sp>
      <p:sp>
        <p:nvSpPr>
          <p:cNvPr id="3" name="Content Placeholder 2"/>
          <p:cNvSpPr>
            <a:spLocks noGrp="1"/>
          </p:cNvSpPr>
          <p:nvPr>
            <p:ph idx="1"/>
          </p:nvPr>
        </p:nvSpPr>
        <p:spPr/>
        <p:txBody>
          <a:bodyPr/>
          <a:lstStyle/>
          <a:p>
            <a:r>
              <a:rPr sz="1800"/>
              <a:t>Average lead time for personalized pairs is 12 days, against standard delivery in a few days.</a:t>
            </a:r>
          </a:p>
          <a:p>
            <a:r>
              <a:rPr sz="1800"/>
              <a:t>Customers who like the concept cite the wait as the main concern.</a:t>
            </a:r>
          </a:p>
          <a:p>
            <a:r>
              <a:rPr sz="1800"/>
              <a:t>Stores report extra handling steps for scans, fittings and order tracking.</a:t>
            </a:r>
          </a:p>
          <a:p>
            <a:r>
              <a:rPr sz="1800"/>
              <a:t>Support is seeing more order status questions on personalized orders.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Marketing tests</a:t>
            </a:r>
          </a:p>
        </p:txBody>
      </p:sp>
      <p:sp>
        <p:nvSpPr>
          <p:cNvPr id="3" name="TextBox 2"/>
          <p:cNvSpPr txBox="1"/>
          <p:nvPr/>
        </p:nvSpPr>
        <p:spPr>
          <a:xfrm>
            <a:off x="548640" y="1371600"/>
            <a:ext cx="11064240" cy="1920240"/>
          </a:xfrm>
          <a:prstGeom prst="rect">
            <a:avLst/>
          </a:prstGeom>
          <a:noFill/>
        </p:spPr>
        <p:txBody>
          <a:bodyPr wrap="square">
            <a:spAutoFit/>
          </a:bodyPr>
          <a:lstStyle/>
          <a:p>
            <a:r>
              <a:rPr sz="1600"/>
              <a:t>Creative tests focused on personalization cues, fit messaging and creator content.</a:t>
            </a:r>
          </a:p>
          <a:p>
            <a:r>
              <a:rPr sz="1600"/>
              <a:t>Fit led messaging performed best with Studio Social.</a:t>
            </a:r>
          </a:p>
          <a:p>
            <a:r>
              <a:rPr sz="1600"/>
              <a:t>Creator try on videos are the strongest driver of Social Shop traffic.</a:t>
            </a:r>
          </a:p>
          <a:p>
            <a:r>
              <a:rPr sz="1600"/>
              <a:t>Results are early and based on short test windows.</a:t>
            </a:r>
          </a:p>
        </p:txBody>
      </p:sp>
      <p:graphicFrame>
        <p:nvGraphicFramePr>
          <p:cNvPr id="4" name="Table 3"/>
          <p:cNvGraphicFramePr>
            <a:graphicFrameLocks noGrp="1"/>
          </p:cNvGraphicFramePr>
          <p:nvPr/>
        </p:nvGraphicFramePr>
        <p:xfrm>
          <a:off x="548640" y="3383280"/>
          <a:ext cx="11064240" cy="182880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a:t>Test</a:t>
                      </a:r>
                    </a:p>
                  </a:txBody>
                  <a:tcPr/>
                </a:tc>
                <a:tc>
                  <a:txBody>
                    <a:bodyPr/>
                    <a:lstStyle/>
                    <a:p>
                      <a:r>
                        <a:rPr sz="1200"/>
                        <a:t>Result</a:t>
                      </a:r>
                    </a:p>
                  </a:txBody>
                  <a:tcPr/>
                </a:tc>
              </a:tr>
              <a:tr h="365760">
                <a:tc>
                  <a:txBody>
                    <a:bodyPr/>
                    <a:lstStyle/>
                    <a:p>
                      <a:r>
                        <a:rPr sz="1200"/>
                        <a:t>Custom colorway emails</a:t>
                      </a:r>
                    </a:p>
                  </a:txBody>
                  <a:tcPr/>
                </a:tc>
                <a:tc>
                  <a:txBody>
                    <a:bodyPr/>
                    <a:lstStyle/>
                    <a:p>
                      <a:r>
                        <a:rPr sz="1200"/>
                        <a:t>Custom colorway emails drove a 2.3x click through rate versus standard creative.</a:t>
                      </a:r>
                    </a:p>
                  </a:txBody>
                  <a:tcPr/>
                </a:tc>
              </a:tr>
              <a:tr h="365760">
                <a:tc>
                  <a:txBody>
                    <a:bodyPr/>
                    <a:lstStyle/>
                    <a:p>
                      <a:r>
                        <a:rPr sz="1200"/>
                        <a:t>Fit guide landing page</a:t>
                      </a:r>
                    </a:p>
                  </a:txBody>
                  <a:tcPr/>
                </a:tc>
                <a:tc>
                  <a:txBody>
                    <a:bodyPr/>
                    <a:lstStyle/>
                    <a:p>
                      <a:r>
                        <a:rPr sz="1200"/>
                        <a:t>Lower bounce rate, longer session time</a:t>
                      </a:r>
                    </a:p>
                  </a:txBody>
                  <a:tcPr/>
                </a:tc>
              </a:tr>
              <a:tr h="365760">
                <a:tc>
                  <a:txBody>
                    <a:bodyPr/>
                    <a:lstStyle/>
                    <a:p>
                      <a:r>
                        <a:rPr sz="1200"/>
                        <a:t>Creator try on videos</a:t>
                      </a:r>
                    </a:p>
                  </a:txBody>
                  <a:tcPr/>
                </a:tc>
                <a:tc>
                  <a:txBody>
                    <a:bodyPr/>
                    <a:lstStyle/>
                    <a:p>
                      <a:r>
                        <a:rPr sz="1200"/>
                        <a:t>Strongest Social Shop traffic source</a:t>
                      </a:r>
                    </a:p>
                  </a:txBody>
                  <a:tcPr/>
                </a:tc>
              </a:tr>
              <a:tr h="365760">
                <a:tc>
                  <a:txBody>
                    <a:bodyPr/>
                    <a:lstStyle/>
                    <a:p>
                      <a:r>
                        <a:rPr sz="1200"/>
                        <a:t>Run club referral offer</a:t>
                      </a:r>
                    </a:p>
                  </a:txBody>
                  <a:tcPr/>
                </a:tc>
                <a:tc>
                  <a:txBody>
                    <a:bodyPr/>
                    <a:lstStyle/>
                    <a:p>
                      <a:r>
                        <a:rPr sz="1200"/>
                        <a:t>Small volume, high conversion</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Competitor watch</a:t>
            </a:r>
          </a:p>
        </p:txBody>
      </p:sp>
      <p:sp>
        <p:nvSpPr>
          <p:cNvPr id="3" name="Content Placeholder 2"/>
          <p:cNvSpPr>
            <a:spLocks noGrp="1"/>
          </p:cNvSpPr>
          <p:nvPr>
            <p:ph idx="1"/>
          </p:nvPr>
        </p:nvSpPr>
        <p:spPr/>
        <p:txBody>
          <a:bodyPr/>
          <a:lstStyle/>
          <a:p>
            <a:r>
              <a:rPr sz="1800"/>
              <a:t>Vantage Athletic: Fit Lab gait scanning now in 120 stores; running average selling price around $165.</a:t>
            </a:r>
          </a:p>
          <a:p>
            <a:r>
              <a:rPr sz="1800"/>
              <a:t>Kinetic Lab: $148 million revenue in fiscal 2025, up 64%; custom runner at $210 with 14 to 21 day delivery.</a:t>
            </a:r>
          </a:p>
          <a:p>
            <a:r>
              <a:rPr sz="1800"/>
              <a:t>Pace &amp; Co.: store in store doors up from 640 to 1,100; core legging at $38.</a:t>
            </a:r>
          </a:p>
          <a:p>
            <a:r>
              <a:rPr sz="1800"/>
              <a:t>None of the three offers a fit promise across categories.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Decisions requested</a:t>
            </a:r>
          </a:p>
        </p:txBody>
      </p:sp>
      <p:sp>
        <p:nvSpPr>
          <p:cNvPr id="3" name="Content Placeholder 2"/>
          <p:cNvSpPr>
            <a:spLocks noGrp="1"/>
          </p:cNvSpPr>
          <p:nvPr>
            <p:ph idx="1"/>
          </p:nvPr>
        </p:nvSpPr>
        <p:spPr/>
        <p:txBody>
          <a:bodyPr/>
          <a:lstStyle/>
          <a:p>
            <a:r>
              <a:rPr sz="1800"/>
              <a:t>Hold personalization at a limited test and defer any national rollout decision.</a:t>
            </a:r>
          </a:p>
          <a:p>
            <a:r>
              <a:rPr sz="1800"/>
              <a:t>Approve development of a cross category fit standard and exchange guarantee.</a:t>
            </a:r>
          </a:p>
          <a:p>
            <a:r>
              <a:rPr sz="1800"/>
              <a:t>Approve a durability fix for the Knit Runner 2 and a hold on its paid promotion.</a:t>
            </a:r>
          </a:p>
          <a:p>
            <a:r>
              <a:rPr sz="1800"/>
              <a:t>Endorse reallocating part of the Gen Z marketing budget to creator and community programs.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p:nvPr>
        </p:nvSpPr>
        <p:spPr/>
        <p:txBody>
          <a:bodyPr/>
          <a:lstStyle/>
          <a:p>
            <a:r>
              <a:rPr sz="1800"/>
              <a:t>Product and merchandising: fit standard and exchange guarantee plan by end of Q3.</a:t>
            </a:r>
          </a:p>
          <a:p>
            <a:r>
              <a:rPr sz="1800"/>
              <a:t>Engineering: confirm revised knit construction ahead of the autumn production run.</a:t>
            </a:r>
          </a:p>
          <a:p>
            <a:r>
              <a:rPr sz="1800"/>
              <a:t>Marketing: creator and community plan with proposed FY27 budget shift.</a:t>
            </a:r>
          </a:p>
          <a:p>
            <a:r>
              <a:rPr sz="1800"/>
              <a:t>Insights: final pilot readout and reconciled Gen Z definition for the board.</a:t>
            </a:r>
          </a:p>
          <a:p>
            <a:r>
              <a:rPr sz="1800"/>
              <a:t>Support: new guidance on early wear complaints and personalized order tracking.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Northstar Q3 Strategy Review</dc:title>
  <dc:subject>Fictional data created for the MarketSignal demo.</dc:subject>
  <dc:creator>MarketSignal seed generator</dc:creator>
  <cp:keywords/>
  <dc:description>generated using python-pptx</dc:description>
  <cp:lastModifiedBy>MarketSignal seed generator</cp:lastModifiedBy>
  <cp:revision>1</cp:revision>
  <dcterms:created xsi:type="dcterms:W3CDTF">2026-01-01T00:00:00Z</dcterms:created>
  <dcterms:modified xsi:type="dcterms:W3CDTF">2026-01-01T00:00:00Z</dcterms:modified>
  <cp:category/>
  <cp:lastPrinted>2026-01-01T00:00:00Z</cp:lastPrinted>
</cp:coreProperties>
</file>