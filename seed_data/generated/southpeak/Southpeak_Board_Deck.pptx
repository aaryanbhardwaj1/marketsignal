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update covers the second quarter of FY26 and the decisions we need from the board for FY27. The headline is that the business is performing slightly ahead of plan, and that the main risks are operational rather than demand related. We will take questions at the end of each section.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year is a latest estimate because the year is not closed. Q3 is seasonally softer than Q2 as hiking demand eases at altitude, and Q4 benefits from holiday outerwear. The forecast assumes no change in promotional intensity.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Channel sales add up to the Q2 total on the previous slide. Marketplace growth is encouraging, but we are watching margin because fees and fast shipping requirements are rising. The app remains small but has the best repeat behavior of any channel.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Ridgeline sits at the center of the three year brand plan, and its FY28 sales ambition is described in the brand strategy. The product team is reviewing sleeve length and will publish a clearer size guide for the jacket ahead of the autumn season. Repair offers will be launched with the next release.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Basecamp Rewards program closed the quarter with 412,000 members, and personalized patches lifted repeat purchase to 29%. Members told us they value repair credits above discounts, which supports our plan to expand repair services. We will report on cost per member and repeat behavior again at the next meeting.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patch test is deliberately small and low cost. Its job is to show whether personalization strengthens loyalty without hurting delivery, which is why we track delivery time alongside repeat behavior. Customers like the idea but are sensitive to delay, so the separate shipment option is under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of 300 customers makes fit the clearest priority. Interviews confirm that customers cannot predict their size across products, which leads them to order two sizes. The fit standard will apply from the spring 2027 season, with existing lines adjusted at their next revision.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is a controllable service issue. The first step is to make estimates accurate, because reliability matters more than speed to most customers. The pilot markets are being selected with the logistics team and will be confirmed in the next planning cycle.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avoid general claims and publish specific facts. Legal and product teams will review every disclosure before launch. The repair program is the most visible commitment and also supports margin, because it keeps customers in the brand for longer.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Costs for each ask are shown in the appendix. We are asking for decisions in sequence so that the fit standard is in place before the spring 2027 season and the delivery pilot can begin in the first quarter.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Southpeak Q2 Board Deck</a:t>
            </a:r>
          </a:p>
        </p:txBody>
      </p:sp>
      <p:sp>
        <p:nvSpPr>
          <p:cNvPr id="3" name="Subtitle 2"/>
          <p:cNvSpPr>
            <a:spLocks noGrp="1"/>
          </p:cNvSpPr>
          <p:nvPr>
            <p:ph type="subTitle" idx="1"/>
          </p:nvPr>
        </p:nvSpPr>
        <p:spPr/>
        <p:txBody>
          <a:bodyPr/>
          <a:lstStyle/>
          <a:p>
            <a:r>
              <a:t>Board of directors update - July 2026</a:t>
            </a:r>
          </a:p>
          <a:p>
            <a:r>
              <a:t>Fictional data created for the MarketSignal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and headlines</a:t>
            </a:r>
          </a:p>
        </p:txBody>
      </p:sp>
      <p:sp>
        <p:nvSpPr>
          <p:cNvPr id="3" name="Content Placeholder 2"/>
          <p:cNvSpPr>
            <a:spLocks noGrp="1"/>
          </p:cNvSpPr>
          <p:nvPr>
            <p:ph idx="1"/>
          </p:nvPr>
        </p:nvSpPr>
        <p:spPr/>
        <p:txBody>
          <a:bodyPr/>
          <a:lstStyle/>
          <a:p>
            <a:r>
              <a:rPr sz="1800"/>
              <a:t>Q2 sales ahead of plan, with the app and marketplaces growing fastest</a:t>
            </a:r>
          </a:p>
          <a:p>
            <a:r>
              <a:rPr sz="1800"/>
              <a:t>Ridgeline shell jacket continues to lead the product mix</a:t>
            </a:r>
          </a:p>
          <a:p>
            <a:r>
              <a:rPr sz="1800"/>
              <a:t>Basecamp Rewards and personalized patches are building loyalty</a:t>
            </a:r>
          </a:p>
          <a:p>
            <a:r>
              <a:rPr sz="1800"/>
              <a:t>Fit inconsistency remains the top customer frustration and is now a funded priority</a:t>
            </a:r>
          </a:p>
          <a:p>
            <a:r>
              <a:rPr sz="1800"/>
              <a:t>Delivery and sustainability proofs are planned for the second half; FY27 asks close the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Q2 financial summary</a:t>
            </a:r>
          </a:p>
        </p:txBody>
      </p:sp>
      <p:sp>
        <p:nvSpPr>
          <p:cNvPr id="3" name="TextBox 2"/>
          <p:cNvSpPr txBox="1"/>
          <p:nvPr/>
        </p:nvSpPr>
        <p:spPr>
          <a:xfrm>
            <a:off x="548640" y="1371600"/>
            <a:ext cx="11064240" cy="1920240"/>
          </a:xfrm>
          <a:prstGeom prst="rect">
            <a:avLst/>
          </a:prstGeom>
          <a:noFill/>
        </p:spPr>
        <p:txBody>
          <a:bodyPr wrap="square">
            <a:spAutoFit/>
          </a:bodyPr>
          <a:lstStyle/>
          <a:p>
            <a:r>
              <a:rPr sz="1600"/>
              <a:t>Q2 net revenue of $71.8M, ahead of plan and up 10% on the same quarter last year</a:t>
            </a:r>
          </a:p>
          <a:p>
            <a:r>
              <a:rPr sz="1600"/>
              <a:t>FY26 latest estimate of net revenue is $284.0M</a:t>
            </a:r>
          </a:p>
          <a:p>
            <a:r>
              <a:rPr sz="1600"/>
              <a:t>Gross margin held steady as freight costs eased</a:t>
            </a:r>
          </a:p>
          <a:p>
            <a:r>
              <a:rPr sz="1600"/>
              <a:t>Outfitter partners and the app contributed most of the quarter's growth</a:t>
            </a:r>
          </a:p>
        </p:txBody>
      </p:sp>
      <p:graphicFrame>
        <p:nvGraphicFramePr>
          <p:cNvPr id="4" name="Table 3"/>
          <p:cNvGraphicFramePr>
            <a:graphicFrameLocks noGrp="1"/>
          </p:cNvGraphicFramePr>
          <p:nvPr/>
        </p:nvGraphicFramePr>
        <p:xfrm>
          <a:off x="548640" y="338328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a:t>Quarter</a:t>
                      </a:r>
                    </a:p>
                  </a:txBody>
                  <a:tcPr/>
                </a:tc>
                <a:tc>
                  <a:txBody>
                    <a:bodyPr/>
                    <a:lstStyle/>
                    <a:p>
                      <a:r>
                        <a:rPr sz="1200"/>
                        <a:t>Net revenue ($M)</a:t>
                      </a:r>
                    </a:p>
                  </a:txBody>
                  <a:tcPr/>
                </a:tc>
                <a:tc>
                  <a:txBody>
                    <a:bodyPr/>
                    <a:lstStyle/>
                    <a:p>
                      <a:r>
                        <a:rPr sz="1200"/>
                        <a:t>Status</a:t>
                      </a:r>
                    </a:p>
                  </a:txBody>
                  <a:tcPr/>
                </a:tc>
              </a:tr>
              <a:tr h="365760">
                <a:tc>
                  <a:txBody>
                    <a:bodyPr/>
                    <a:lstStyle/>
                    <a:p>
                      <a:r>
                        <a:rPr sz="1200"/>
                        <a:t>Q1 FY26</a:t>
                      </a:r>
                    </a:p>
                  </a:txBody>
                  <a:tcPr/>
                </a:tc>
                <a:tc>
                  <a:txBody>
                    <a:bodyPr/>
                    <a:lstStyle/>
                    <a:p>
                      <a:r>
                        <a:rPr sz="1200"/>
                        <a:t>63.5</a:t>
                      </a:r>
                    </a:p>
                  </a:txBody>
                  <a:tcPr/>
                </a:tc>
                <a:tc>
                  <a:txBody>
                    <a:bodyPr/>
                    <a:lstStyle/>
                    <a:p>
                      <a:r>
                        <a:rPr sz="1200"/>
                        <a:t>Actual</a:t>
                      </a:r>
                    </a:p>
                  </a:txBody>
                  <a:tcPr/>
                </a:tc>
              </a:tr>
              <a:tr h="365760">
                <a:tc>
                  <a:txBody>
                    <a:bodyPr/>
                    <a:lstStyle/>
                    <a:p>
                      <a:r>
                        <a:rPr sz="1200"/>
                        <a:t>Q2 FY26</a:t>
                      </a:r>
                    </a:p>
                  </a:txBody>
                  <a:tcPr/>
                </a:tc>
                <a:tc>
                  <a:txBody>
                    <a:bodyPr/>
                    <a:lstStyle/>
                    <a:p>
                      <a:r>
                        <a:rPr sz="1200"/>
                        <a:t>71.8</a:t>
                      </a:r>
                    </a:p>
                  </a:txBody>
                  <a:tcPr/>
                </a:tc>
                <a:tc>
                  <a:txBody>
                    <a:bodyPr/>
                    <a:lstStyle/>
                    <a:p>
                      <a:r>
                        <a:rPr sz="1200"/>
                        <a:t>Actual</a:t>
                      </a:r>
                    </a:p>
                  </a:txBody>
                  <a:tcPr/>
                </a:tc>
              </a:tr>
              <a:tr h="365760">
                <a:tc>
                  <a:txBody>
                    <a:bodyPr/>
                    <a:lstStyle/>
                    <a:p>
                      <a:r>
                        <a:rPr sz="1200"/>
                        <a:t>Q3 FY26</a:t>
                      </a:r>
                    </a:p>
                  </a:txBody>
                  <a:tcPr/>
                </a:tc>
                <a:tc>
                  <a:txBody>
                    <a:bodyPr/>
                    <a:lstStyle/>
                    <a:p>
                      <a:r>
                        <a:rPr sz="1200"/>
                        <a:t>69.7</a:t>
                      </a:r>
                    </a:p>
                  </a:txBody>
                  <a:tcPr/>
                </a:tc>
                <a:tc>
                  <a:txBody>
                    <a:bodyPr/>
                    <a:lstStyle/>
                    <a:p>
                      <a:r>
                        <a:rPr sz="1200"/>
                        <a:t>Forecast</a:t>
                      </a:r>
                    </a:p>
                  </a:txBody>
                  <a:tcPr/>
                </a:tc>
              </a:tr>
              <a:tr h="365760">
                <a:tc>
                  <a:txBody>
                    <a:bodyPr/>
                    <a:lstStyle/>
                    <a:p>
                      <a:r>
                        <a:rPr sz="1200"/>
                        <a:t>Q4 FY26</a:t>
                      </a:r>
                    </a:p>
                  </a:txBody>
                  <a:tcPr/>
                </a:tc>
                <a:tc>
                  <a:txBody>
                    <a:bodyPr/>
                    <a:lstStyle/>
                    <a:p>
                      <a:r>
                        <a:rPr sz="1200"/>
                        <a:t>79.0</a:t>
                      </a:r>
                    </a:p>
                  </a:txBody>
                  <a:tcPr/>
                </a:tc>
                <a:tc>
                  <a:txBody>
                    <a:bodyPr/>
                    <a:lstStyle/>
                    <a:p>
                      <a:r>
                        <a:rPr sz="1200"/>
                        <a:t>Forecast</a:t>
                      </a:r>
                    </a:p>
                  </a:txBody>
                  <a:tcPr/>
                </a:tc>
              </a:tr>
              <a:tr h="365760">
                <a:tc>
                  <a:txBody>
                    <a:bodyPr/>
                    <a:lstStyle/>
                    <a:p>
                      <a:r>
                        <a:rPr sz="1200"/>
                        <a:t>FY26 LE</a:t>
                      </a:r>
                    </a:p>
                  </a:txBody>
                  <a:tcPr/>
                </a:tc>
                <a:tc>
                  <a:txBody>
                    <a:bodyPr/>
                    <a:lstStyle/>
                    <a:p>
                      <a:r>
                        <a:rPr sz="1200"/>
                        <a:t>284.0</a:t>
                      </a:r>
                    </a:p>
                  </a:txBody>
                  <a:tcPr/>
                </a:tc>
                <a:tc>
                  <a:txBody>
                    <a:bodyPr/>
                    <a:lstStyle/>
                    <a:p>
                      <a:r>
                        <a:rPr sz="1200"/>
                        <a:t>Latest estimate</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Channel performance</a:t>
            </a:r>
          </a:p>
        </p:txBody>
      </p:sp>
      <p:sp>
        <p:nvSpPr>
          <p:cNvPr id="3" name="TextBox 2"/>
          <p:cNvSpPr txBox="1"/>
          <p:nvPr/>
        </p:nvSpPr>
        <p:spPr>
          <a:xfrm>
            <a:off x="548640" y="1371600"/>
            <a:ext cx="11064240" cy="1920240"/>
          </a:xfrm>
          <a:prstGeom prst="rect">
            <a:avLst/>
          </a:prstGeom>
          <a:noFill/>
        </p:spPr>
        <p:txBody>
          <a:bodyPr wrap="square">
            <a:spAutoFit/>
          </a:bodyPr>
          <a:lstStyle/>
          <a:p>
            <a:r>
              <a:rPr sz="1600"/>
              <a:t>Outfitter partners remain the largest channel at about 30% of Q2 sales</a:t>
            </a:r>
          </a:p>
          <a:p>
            <a:r>
              <a:rPr sz="1600"/>
              <a:t>The app grew fastest and is the home of most Basecamp Rewards activity</a:t>
            </a:r>
          </a:p>
          <a:p>
            <a:r>
              <a:rPr sz="1600"/>
              <a:t>Stores grew slowly, with traffic up but average basket flat</a:t>
            </a:r>
          </a:p>
          <a:p>
            <a:r>
              <a:rPr sz="1600"/>
              <a:t>Marketplaces performed well but carry higher fulfillment cost</a:t>
            </a:r>
          </a:p>
        </p:txBody>
      </p:sp>
      <p:graphicFrame>
        <p:nvGraphicFramePr>
          <p:cNvPr id="4" name="Table 3"/>
          <p:cNvGraphicFramePr>
            <a:graphicFrameLocks noGrp="1"/>
          </p:cNvGraphicFramePr>
          <p:nvPr/>
        </p:nvGraphicFramePr>
        <p:xfrm>
          <a:off x="548640" y="338328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a:t>Channel</a:t>
                      </a:r>
                    </a:p>
                  </a:txBody>
                  <a:tcPr/>
                </a:tc>
                <a:tc>
                  <a:txBody>
                    <a:bodyPr/>
                    <a:lstStyle/>
                    <a:p>
                      <a:r>
                        <a:rPr sz="1200"/>
                        <a:t>Q2 sales ($M)</a:t>
                      </a:r>
                    </a:p>
                  </a:txBody>
                  <a:tcPr/>
                </a:tc>
                <a:tc>
                  <a:txBody>
                    <a:bodyPr/>
                    <a:lstStyle/>
                    <a:p>
                      <a:r>
                        <a:rPr sz="1200"/>
                        <a:t>Change vs Q2 FY25</a:t>
                      </a:r>
                    </a:p>
                  </a:txBody>
                  <a:tcPr/>
                </a:tc>
              </a:tr>
              <a:tr h="365760">
                <a:tc>
                  <a:txBody>
                    <a:bodyPr/>
                    <a:lstStyle/>
                    <a:p>
                      <a:r>
                        <a:rPr sz="1200"/>
                        <a:t>Outfitter Partners</a:t>
                      </a:r>
                    </a:p>
                  </a:txBody>
                  <a:tcPr/>
                </a:tc>
                <a:tc>
                  <a:txBody>
                    <a:bodyPr/>
                    <a:lstStyle/>
                    <a:p>
                      <a:r>
                        <a:rPr sz="1200"/>
                        <a:t>21.5</a:t>
                      </a:r>
                    </a:p>
                  </a:txBody>
                  <a:tcPr/>
                </a:tc>
                <a:tc>
                  <a:txBody>
                    <a:bodyPr/>
                    <a:lstStyle/>
                    <a:p>
                      <a:r>
                        <a:rPr sz="1200"/>
                        <a:t>+6%</a:t>
                      </a:r>
                    </a:p>
                  </a:txBody>
                  <a:tcPr/>
                </a:tc>
              </a:tr>
              <a:tr h="365760">
                <a:tc>
                  <a:txBody>
                    <a:bodyPr/>
                    <a:lstStyle/>
                    <a:p>
                      <a:r>
                        <a:rPr sz="1200"/>
                        <a:t>Brand Site</a:t>
                      </a:r>
                    </a:p>
                  </a:txBody>
                  <a:tcPr/>
                </a:tc>
                <a:tc>
                  <a:txBody>
                    <a:bodyPr/>
                    <a:lstStyle/>
                    <a:p>
                      <a:r>
                        <a:rPr sz="1200"/>
                        <a:t>15.8</a:t>
                      </a:r>
                    </a:p>
                  </a:txBody>
                  <a:tcPr/>
                </a:tc>
                <a:tc>
                  <a:txBody>
                    <a:bodyPr/>
                    <a:lstStyle/>
                    <a:p>
                      <a:r>
                        <a:rPr sz="1200"/>
                        <a:t>+9%</a:t>
                      </a:r>
                    </a:p>
                  </a:txBody>
                  <a:tcPr/>
                </a:tc>
              </a:tr>
              <a:tr h="365760">
                <a:tc>
                  <a:txBody>
                    <a:bodyPr/>
                    <a:lstStyle/>
                    <a:p>
                      <a:r>
                        <a:rPr sz="1200"/>
                        <a:t>Marketplace</a:t>
                      </a:r>
                    </a:p>
                  </a:txBody>
                  <a:tcPr/>
                </a:tc>
                <a:tc>
                  <a:txBody>
                    <a:bodyPr/>
                    <a:lstStyle/>
                    <a:p>
                      <a:r>
                        <a:rPr sz="1200"/>
                        <a:t>13.6</a:t>
                      </a:r>
                    </a:p>
                  </a:txBody>
                  <a:tcPr/>
                </a:tc>
                <a:tc>
                  <a:txBody>
                    <a:bodyPr/>
                    <a:lstStyle/>
                    <a:p>
                      <a:r>
                        <a:rPr sz="1200"/>
                        <a:t>+14%</a:t>
                      </a:r>
                    </a:p>
                  </a:txBody>
                  <a:tcPr/>
                </a:tc>
              </a:tr>
              <a:tr h="365760">
                <a:tc>
                  <a:txBody>
                    <a:bodyPr/>
                    <a:lstStyle/>
                    <a:p>
                      <a:r>
                        <a:rPr sz="1200"/>
                        <a:t>Stores</a:t>
                      </a:r>
                    </a:p>
                  </a:txBody>
                  <a:tcPr/>
                </a:tc>
                <a:tc>
                  <a:txBody>
                    <a:bodyPr/>
                    <a:lstStyle/>
                    <a:p>
                      <a:r>
                        <a:rPr sz="1200"/>
                        <a:t>12.9</a:t>
                      </a:r>
                    </a:p>
                  </a:txBody>
                  <a:tcPr/>
                </a:tc>
                <a:tc>
                  <a:txBody>
                    <a:bodyPr/>
                    <a:lstStyle/>
                    <a:p>
                      <a:r>
                        <a:rPr sz="1200"/>
                        <a:t>+3%</a:t>
                      </a:r>
                    </a:p>
                  </a:txBody>
                  <a:tcPr/>
                </a:tc>
              </a:tr>
              <a:tr h="365760">
                <a:tc>
                  <a:txBody>
                    <a:bodyPr/>
                    <a:lstStyle/>
                    <a:p>
                      <a:r>
                        <a:rPr sz="1200"/>
                        <a:t>App</a:t>
                      </a:r>
                    </a:p>
                  </a:txBody>
                  <a:tcPr/>
                </a:tc>
                <a:tc>
                  <a:txBody>
                    <a:bodyPr/>
                    <a:lstStyle/>
                    <a:p>
                      <a:r>
                        <a:rPr sz="1200"/>
                        <a:t>8.0</a:t>
                      </a:r>
                    </a:p>
                  </a:txBody>
                  <a:tcPr/>
                </a:tc>
                <a:tc>
                  <a:txBody>
                    <a:bodyPr/>
                    <a:lstStyle/>
                    <a:p>
                      <a:r>
                        <a:rPr sz="1200"/>
                        <a:t>+21%</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Ridgeline shell jacket</a:t>
            </a:r>
          </a:p>
        </p:txBody>
      </p:sp>
      <p:sp>
        <p:nvSpPr>
          <p:cNvPr id="3" name="Content Placeholder 2"/>
          <p:cNvSpPr>
            <a:spLocks noGrp="1"/>
          </p:cNvSpPr>
          <p:nvPr>
            <p:ph idx="1"/>
          </p:nvPr>
        </p:nvSpPr>
        <p:spPr/>
        <p:txBody>
          <a:bodyPr/>
          <a:lstStyle/>
          <a:p>
            <a:r>
              <a:rPr sz="1800"/>
              <a:t>Ridgeline is our fastest growing product line and the flagship of the brand refresh</a:t>
            </a:r>
          </a:p>
          <a:p>
            <a:r>
              <a:rPr sz="1800"/>
              <a:t>New season colors sold through faster than planned in the first six weeks</a:t>
            </a:r>
          </a:p>
          <a:p>
            <a:r>
              <a:rPr sz="1800"/>
              <a:t>Customer feedback praises the weight and the helmet compatible hood</a:t>
            </a:r>
          </a:p>
          <a:p>
            <a:r>
              <a:rPr sz="1800"/>
              <a:t>Sleeve length is the most common fit note and will be reviewed for the next season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Basecamp Rewards loyalty program</a:t>
            </a:r>
          </a:p>
        </p:txBody>
      </p:sp>
      <p:sp>
        <p:nvSpPr>
          <p:cNvPr id="3" name="Content Placeholder 2"/>
          <p:cNvSpPr>
            <a:spLocks noGrp="1"/>
          </p:cNvSpPr>
          <p:nvPr>
            <p:ph idx="1"/>
          </p:nvPr>
        </p:nvSpPr>
        <p:spPr/>
        <p:txBody>
          <a:bodyPr/>
          <a:lstStyle/>
          <a:p>
            <a:r>
              <a:rPr sz="1800"/>
              <a:t>Membership grew steadily through the quarter, led by app sign ups</a:t>
            </a:r>
          </a:p>
          <a:p>
            <a:r>
              <a:rPr sz="1800"/>
              <a:t>Members spend more per year and return more often than non members</a:t>
            </a:r>
          </a:p>
          <a:p>
            <a:r>
              <a:rPr sz="1800"/>
              <a:t>Most popular rewards are free repairs and early access to new colors</a:t>
            </a:r>
          </a:p>
          <a:p>
            <a:r>
              <a:rPr sz="1800"/>
              <a:t>Next step is to add points for stewardship days and trail cleanups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Personalized patches</a:t>
            </a:r>
          </a:p>
        </p:txBody>
      </p:sp>
      <p:sp>
        <p:nvSpPr>
          <p:cNvPr id="3" name="Content Placeholder 2"/>
          <p:cNvSpPr>
            <a:spLocks noGrp="1"/>
          </p:cNvSpPr>
          <p:nvPr>
            <p:ph idx="1"/>
          </p:nvPr>
        </p:nvSpPr>
        <p:spPr/>
        <p:txBody>
          <a:bodyPr/>
          <a:lstStyle/>
          <a:p>
            <a:r>
              <a:rPr sz="1800"/>
              <a:t>Patches are available to Basecamp Rewards members on selected packs and jackets</a:t>
            </a:r>
          </a:p>
          <a:p>
            <a:r>
              <a:rPr sz="1800"/>
              <a:t>Designs mark trail milestones, club logos and personal names</a:t>
            </a:r>
          </a:p>
          <a:p>
            <a:r>
              <a:rPr sz="1800"/>
              <a:t>Fulfillment adds two to three working days when patches are applied at the warehouse</a:t>
            </a:r>
          </a:p>
          <a:p>
            <a:r>
              <a:rPr sz="1800"/>
              <a:t>Plan to ship patches as a separate item when speed matters more than the finished look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Fit issues</a:t>
            </a:r>
          </a:p>
        </p:txBody>
      </p:sp>
      <p:sp>
        <p:nvSpPr>
          <p:cNvPr id="3" name="Content Placeholder 2"/>
          <p:cNvSpPr>
            <a:spLocks noGrp="1"/>
          </p:cNvSpPr>
          <p:nvPr>
            <p:ph idx="1"/>
          </p:nvPr>
        </p:nvSpPr>
        <p:spPr/>
        <p:txBody>
          <a:bodyPr/>
          <a:lstStyle/>
          <a:p>
            <a:r>
              <a:rPr sz="1800"/>
              <a:t>33% of surveyed customers named fit inconsistency as their top frustration</a:t>
            </a:r>
          </a:p>
          <a:p>
            <a:r>
              <a:rPr sz="1800"/>
              <a:t>Boots run slightly large compared with trail runners from the same brand</a:t>
            </a:r>
          </a:p>
          <a:p>
            <a:r>
              <a:rPr sz="1800"/>
              <a:t>Wrong size orders drive a second shipment and delay the customer's trip</a:t>
            </a:r>
          </a:p>
          <a:p>
            <a:r>
              <a:rPr sz="1800"/>
              <a:t>Plan: one fit standard across product lines, a clearer size guide and an exchange promise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Delivery</a:t>
            </a:r>
          </a:p>
        </p:txBody>
      </p:sp>
      <p:sp>
        <p:nvSpPr>
          <p:cNvPr id="3" name="Content Placeholder 2"/>
          <p:cNvSpPr>
            <a:spLocks noGrp="1"/>
          </p:cNvSpPr>
          <p:nvPr>
            <p:ph idx="1"/>
          </p:nvPr>
        </p:nvSpPr>
        <p:spPr/>
        <p:txBody>
          <a:bodyPr/>
          <a:lstStyle/>
          <a:p>
            <a:r>
              <a:rPr sz="1800"/>
              <a:t>Customers compare our delivery times with marketplace sellers</a:t>
            </a:r>
          </a:p>
          <a:p>
            <a:r>
              <a:rPr sz="1800"/>
              <a:t>Estimated delivery dates change after checkout in too many orders</a:t>
            </a:r>
          </a:p>
          <a:p>
            <a:r>
              <a:rPr sz="1800"/>
              <a:t>Plan a faster delivery pilot in selected Mountain West markets in early 2027</a:t>
            </a:r>
          </a:p>
          <a:p>
            <a:r>
              <a:rPr sz="1800"/>
              <a:t>Short term step: accurate dates at checkout and proactive tracking messages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a:t>
            </a:r>
          </a:p>
        </p:txBody>
      </p:sp>
      <p:sp>
        <p:nvSpPr>
          <p:cNvPr id="3" name="Content Placeholder 2"/>
          <p:cNvSpPr>
            <a:spLocks noGrp="1"/>
          </p:cNvSpPr>
          <p:nvPr>
            <p:ph idx="1"/>
          </p:nvPr>
        </p:nvSpPr>
        <p:spPr/>
        <p:txBody>
          <a:bodyPr/>
          <a:lstStyle/>
          <a:p>
            <a:r>
              <a:rPr sz="1800"/>
              <a:t>14% of respondents named sustainability transparency as their top frustration</a:t>
            </a:r>
          </a:p>
          <a:p>
            <a:r>
              <a:rPr sz="1800"/>
              <a:t>Customers want recycled content and factory location on product pages</a:t>
            </a:r>
          </a:p>
          <a:p>
            <a:r>
              <a:rPr sz="1800"/>
              <a:t>Repair and resole services are the most credible proof of durability</a:t>
            </a:r>
          </a:p>
          <a:p>
            <a:r>
              <a:rPr sz="1800"/>
              <a:t>Annual progress report planned, with measurable goals only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and open questions</a:t>
            </a:r>
          </a:p>
        </p:txBody>
      </p:sp>
      <p:sp>
        <p:nvSpPr>
          <p:cNvPr id="3" name="Content Placeholder 2"/>
          <p:cNvSpPr>
            <a:spLocks noGrp="1"/>
          </p:cNvSpPr>
          <p:nvPr>
            <p:ph idx="1"/>
          </p:nvPr>
        </p:nvSpPr>
        <p:spPr/>
        <p:txBody>
          <a:bodyPr/>
          <a:lstStyle/>
          <a:p>
            <a:r>
              <a:rPr sz="1800"/>
              <a:t>Fit standard touches every product team and could affect season launches</a:t>
            </a:r>
          </a:p>
          <a:p>
            <a:r>
              <a:rPr sz="1800"/>
              <a:t>Marketplace growth may dilute margin if fulfillment costs keep rising</a:t>
            </a:r>
          </a:p>
          <a:p>
            <a:r>
              <a:rPr sz="1800"/>
              <a:t>Faster delivery adds cost that must be justified by repeat purchase</a:t>
            </a:r>
          </a:p>
          <a:p>
            <a:r>
              <a:rPr sz="1800"/>
              <a:t>Sustainability claims must be accurate and defensible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FY27 asks of the board</a:t>
            </a:r>
          </a:p>
        </p:txBody>
      </p:sp>
      <p:sp>
        <p:nvSpPr>
          <p:cNvPr id="3" name="TextBox 2"/>
          <p:cNvSpPr txBox="1"/>
          <p:nvPr/>
        </p:nvSpPr>
        <p:spPr>
          <a:xfrm>
            <a:off x="548640" y="1371600"/>
            <a:ext cx="11064240" cy="1920240"/>
          </a:xfrm>
          <a:prstGeom prst="rect">
            <a:avLst/>
          </a:prstGeom>
          <a:noFill/>
        </p:spPr>
        <p:txBody>
          <a:bodyPr wrap="square">
            <a:spAutoFit/>
          </a:bodyPr>
          <a:lstStyle/>
          <a:p>
            <a:r>
              <a:rPr sz="1600"/>
              <a:t>Approve funding for the fit standard and size guide program</a:t>
            </a:r>
          </a:p>
          <a:p>
            <a:r>
              <a:rPr sz="1600"/>
              <a:t>Approve the faster delivery pilot budget for selected Mountain West markets</a:t>
            </a:r>
          </a:p>
          <a:p>
            <a:r>
              <a:rPr sz="1600"/>
              <a:t>Endorse the expansion of repair and resole services</a:t>
            </a:r>
          </a:p>
          <a:p>
            <a:r>
              <a:rPr sz="1600"/>
              <a:t>Support continued investment in Basecamp Rewards and the patch test</a:t>
            </a:r>
          </a:p>
        </p:txBody>
      </p:sp>
      <p:graphicFrame>
        <p:nvGraphicFramePr>
          <p:cNvPr id="4" name="Table 3"/>
          <p:cNvGraphicFramePr>
            <a:graphicFrameLocks noGrp="1"/>
          </p:cNvGraphicFramePr>
          <p:nvPr/>
        </p:nvGraphicFramePr>
        <p:xfrm>
          <a:off x="548640" y="338328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a:t>Ask</a:t>
                      </a:r>
                    </a:p>
                  </a:txBody>
                  <a:tcPr/>
                </a:tc>
                <a:tc>
                  <a:txBody>
                    <a:bodyPr/>
                    <a:lstStyle/>
                    <a:p>
                      <a:r>
                        <a:rPr sz="1200"/>
                        <a:t>Owner</a:t>
                      </a:r>
                    </a:p>
                  </a:txBody>
                  <a:tcPr/>
                </a:tc>
                <a:tc>
                  <a:txBody>
                    <a:bodyPr/>
                    <a:lstStyle/>
                    <a:p>
                      <a:r>
                        <a:rPr sz="1200"/>
                        <a:t>Decision needed by</a:t>
                      </a:r>
                    </a:p>
                  </a:txBody>
                  <a:tcPr/>
                </a:tc>
              </a:tr>
              <a:tr h="365760">
                <a:tc>
                  <a:txBody>
                    <a:bodyPr/>
                    <a:lstStyle/>
                    <a:p>
                      <a:r>
                        <a:rPr sz="1200"/>
                        <a:t>Fit standard funding</a:t>
                      </a:r>
                    </a:p>
                  </a:txBody>
                  <a:tcPr/>
                </a:tc>
                <a:tc>
                  <a:txBody>
                    <a:bodyPr/>
                    <a:lstStyle/>
                    <a:p>
                      <a:r>
                        <a:rPr sz="1200"/>
                        <a:t>Product</a:t>
                      </a:r>
                    </a:p>
                  </a:txBody>
                  <a:tcPr/>
                </a:tc>
                <a:tc>
                  <a:txBody>
                    <a:bodyPr/>
                    <a:lstStyle/>
                    <a:p>
                      <a:r>
                        <a:rPr sz="1200"/>
                        <a:t>September</a:t>
                      </a:r>
                    </a:p>
                  </a:txBody>
                  <a:tcPr/>
                </a:tc>
              </a:tr>
              <a:tr h="365760">
                <a:tc>
                  <a:txBody>
                    <a:bodyPr/>
                    <a:lstStyle/>
                    <a:p>
                      <a:r>
                        <a:rPr sz="1200"/>
                        <a:t>Delivery pilot budget</a:t>
                      </a:r>
                    </a:p>
                  </a:txBody>
                  <a:tcPr/>
                </a:tc>
                <a:tc>
                  <a:txBody>
                    <a:bodyPr/>
                    <a:lstStyle/>
                    <a:p>
                      <a:r>
                        <a:rPr sz="1200"/>
                        <a:t>Operations</a:t>
                      </a:r>
                    </a:p>
                  </a:txBody>
                  <a:tcPr/>
                </a:tc>
                <a:tc>
                  <a:txBody>
                    <a:bodyPr/>
                    <a:lstStyle/>
                    <a:p>
                      <a:r>
                        <a:rPr sz="1200"/>
                        <a:t>October</a:t>
                      </a:r>
                    </a:p>
                  </a:txBody>
                  <a:tcPr/>
                </a:tc>
              </a:tr>
              <a:tr h="365760">
                <a:tc>
                  <a:txBody>
                    <a:bodyPr/>
                    <a:lstStyle/>
                    <a:p>
                      <a:r>
                        <a:rPr sz="1200"/>
                        <a:t>Repair expansion</a:t>
                      </a:r>
                    </a:p>
                  </a:txBody>
                  <a:tcPr/>
                </a:tc>
                <a:tc>
                  <a:txBody>
                    <a:bodyPr/>
                    <a:lstStyle/>
                    <a:p>
                      <a:r>
                        <a:rPr sz="1200"/>
                        <a:t>Customer care</a:t>
                      </a:r>
                    </a:p>
                  </a:txBody>
                  <a:tcPr/>
                </a:tc>
                <a:tc>
                  <a:txBody>
                    <a:bodyPr/>
                    <a:lstStyle/>
                    <a:p>
                      <a:r>
                        <a:rPr sz="1200"/>
                        <a:t>October</a:t>
                      </a:r>
                    </a:p>
                  </a:txBody>
                  <a:tcPr/>
                </a:tc>
              </a:tr>
              <a:tr h="365760">
                <a:tc>
                  <a:txBody>
                    <a:bodyPr/>
                    <a:lstStyle/>
                    <a:p>
                      <a:r>
                        <a:rPr sz="1200"/>
                        <a:t>Rewards investment</a:t>
                      </a:r>
                    </a:p>
                  </a:txBody>
                  <a:tcPr/>
                </a:tc>
                <a:tc>
                  <a:txBody>
                    <a:bodyPr/>
                    <a:lstStyle/>
                    <a:p>
                      <a:r>
                        <a:rPr sz="1200"/>
                        <a:t>Brand</a:t>
                      </a:r>
                    </a:p>
                  </a:txBody>
                  <a:tcPr/>
                </a:tc>
                <a:tc>
                  <a:txBody>
                    <a:bodyPr/>
                    <a:lstStyle/>
                    <a:p>
                      <a:r>
                        <a:rPr sz="1200"/>
                        <a:t>November</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Southpeak Q2 Board Deck</dc:title>
  <dc:subject>Fictional data created for the MarketSignal demo.</dc:subject>
  <dc:creator>MarketSignal seed generator</dc:creator>
  <cp:keywords/>
  <dc:description>generated using python-pptx</dc:description>
  <cp:lastModifiedBy>MarketSignal seed generator</cp:lastModifiedBy>
  <cp:revision>1</cp:revision>
  <dcterms:created xsi:type="dcterms:W3CDTF">2026-01-01T00:00:00Z</dcterms:created>
  <dcterms:modified xsi:type="dcterms:W3CDTF">2026-01-01T00:00:00Z</dcterms:modified>
  <cp:category/>
  <cp:lastPrinted>2026-01-01T00:00:00Z</cp:lastPrinted>
</cp:coreProperties>
</file>